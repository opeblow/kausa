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0e0c62f-a789-5067-9de8-728f33daa921}">
          <p14:sldIdLst>
            <p14:sldId id="256"/>
            <p14:sldId id="257"/>
          </p14:sldIdLst>
        </p14:section>
        <p14:section name="Product" id="{aab789bd-c62a-2770-4ac4-510bd049ddb6}">
          <p14:sldIdLst>
            <p14:sldId id="258"/>
            <p14:sldId id="259"/>
            <p14:sldId id="260"/>
            <p14:sldId id="261"/>
            <p14:sldId id="262"/>
          </p14:sldIdLst>
        </p14:section>
        <p14:section name="Technology" id="{65ee886a-d728-dc72-f2b1-6ccae3d9ff72}">
          <p14:sldIdLst>
            <p14:sldId id="263"/>
            <p14:sldId id="264"/>
            <p14:sldId id="265"/>
          </p14:sldIdLst>
        </p14:section>
        <p14:section name="Close" id="{fa12e637-4c3e-3f4b-a880-f45facaf40ae}">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Kausa answers the question every operator asks the morning after a bad week: why did my number move? It is live right now at kausa-gqp.pages.dev, and everything in this deck is from the running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Operators see that a number moved but cannot tell why. Dashboards stop at what; analysts are slow; chat assistants tell one confident story that is never checked. A trustworthy answer needs alternatives tested against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Upload any export; Kausa detects the schema. Ask in plain language and confirm the scope. Get a verdict in about twenty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stages run on every question. The statistics are deterministic code; Nemotron only narrates; a verifier blocks any number that isn't in the claim ledger; memory carries useful facts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investigation screen from a real run. Each hypothesis gets a status and a reason. The coverage check was refuted: missing days don't explain the gap. The whole run took nineteen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was 1.41 million, actual 1.08 million. Promotion explains 256K of the 333K gap, price and footfall the rest, with a 1.4K unexplained remainder shown honestly. Missing days were tested and ruled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figure and the evidence panel opens: the query, the rows, the calculation and the verifier result. It deep-links, so a claim can be shared with a colleague.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holds one live Convex connection. Convex is the database, storage, auth and job runner. The statistics run in Convex actions. Nemotron narrates, H-MEM remembers, and Zetaris can serve the analysis slice where the data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Nemotron is live and writes every verdict. The Meterless H-MEM engine is ported into Convex to give each user durable memory. The Zetaris client federates the analysis query when a Zetaris source is configured.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mock-up. The end-to-end test signs up, uploads, investigates and opens the evidence on the live site, and passes all thirteen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Mapped to the six official criteria: impact thirty, technical twenty, innovation and demo fifteen each, product and sponsor tech ten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Kausa explains one dataset. Next it federates the sources an operator really has through Zetaris and adds stronger tests. Later it watches the numbers and sends the why before anyone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Kausa: know why your numbers moved. Try it live, watch the demo, read the code.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AUSA_HERO">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AUSA_CONTENT">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rtlCol="0"/>
          <a:lstStyle>
            <a:lvl1pPr algn="l" indent="0" marL="0">
              <a:buNone/>
              <a:defRPr lang="en-US" sz="1200" b="1" spc="4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bg2"/>
                </a:solidFill>
              </a:rPr>
              <a:t>KAUSA  ·  Open Agent Hackathon 2026  ·  Track 02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kausa-gqp.pages.dev/" TargetMode="External"/><Relationship Id="rId2" Type="http://schemas.openxmlformats.org/officeDocument/2006/relationships/hyperlink" Target="https://youtu.be/x4X7j_lqx_k" TargetMode="External"/><Relationship Id="rId3" Type="http://schemas.openxmlformats.org/officeDocument/2006/relationships/image" Target="../media/image-1-1.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5" Type="http://schemas.openxmlformats.org/officeDocument/2006/relationships/hyperlink" Target="https://kausa-gqp.pages.dev/" TargetMode="External"/><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6" Type="http://schemas.openxmlformats.org/officeDocument/2006/relationships/slideLayout" Target="../slideLayouts/slideLayout3.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kausa-gqp.pages.dev/" TargetMode="External"/><Relationship Id="rId4" Type="http://schemas.openxmlformats.org/officeDocument/2006/relationships/hyperlink" Target="https://youtu.be/x4X7j_lqx_k" TargetMode="External"/><Relationship Id="rId6" Type="http://schemas.openxmlformats.org/officeDocument/2006/relationships/hyperlink" Target="https://github.com/opeblow/KAUSA" TargetMode="External"/><Relationship Id="rId1" Type="http://schemas.openxmlformats.org/officeDocument/2006/relationships/image" Target="../media/image-13-1.png"/><Relationship Id="rId3" Type="http://schemas.openxmlformats.org/officeDocument/2006/relationships/image" Target="../media/image-13-2.png"/><Relationship Id="rId5" Type="http://schemas.openxmlformats.org/officeDocument/2006/relationships/image" Target="../media/image-13-3.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 violet"/>
          <p:cNvSpPr/>
          <p:nvPr/>
        </p:nvSpPr>
        <p:spPr>
          <a:xfrm>
            <a:off x="5669280" y="-2011680"/>
            <a:ext cx="8229600" cy="8229600"/>
          </a:xfrm>
          <a:prstGeom prst="ellipse">
            <a:avLst/>
          </a:prstGeom>
          <a:solidFill>
            <a:schemeClr val="accent1">
              <a:alpha val="12000"/>
            </a:schemeClr>
          </a:solidFill>
          <a:ln w="12700">
            <a:solidFill>
              <a:schemeClr val="accent1">
                <a:alpha val="0"/>
              </a:schemeClr>
            </a:solidFill>
            <a:prstDash val="solid"/>
          </a:ln>
        </p:spPr>
      </p:sp>
      <p:sp>
        <p:nvSpPr>
          <p:cNvPr id="3" name="glow cyan"/>
          <p:cNvSpPr/>
          <p:nvPr/>
        </p:nvSpPr>
        <p:spPr>
          <a:xfrm>
            <a:off x="8686800" y="2926080"/>
            <a:ext cx="5486400" cy="5486400"/>
          </a:xfrm>
          <a:prstGeom prst="ellipse">
            <a:avLst/>
          </a:prstGeom>
          <a:solidFill>
            <a:schemeClr val="accent2">
              <a:alpha val="8000"/>
            </a:schemeClr>
          </a:solidFill>
          <a:ln w="12700">
            <a:solidFill>
              <a:schemeClr val="accent2">
                <a:alpha val="0"/>
              </a:schemeClr>
            </a:solidFill>
            <a:prstDash val="solid"/>
          </a:ln>
        </p:spPr>
      </p:sp>
      <p:sp>
        <p:nvSpPr>
          <p:cNvPr id="4" name="logo tile"/>
          <p:cNvSpPr/>
          <p:nvPr/>
        </p:nvSpPr>
        <p:spPr>
          <a:xfrm>
            <a:off x="548640" y="640080"/>
            <a:ext cx="566928" cy="566928"/>
          </a:xfrm>
          <a:prstGeom prst="roundRect">
            <a:avLst>
              <a:gd name="adj" fmla="val 22581"/>
            </a:avLst>
          </a:prstGeom>
          <a:solidFill>
            <a:schemeClr val="tx2"/>
          </a:solidFill>
          <a:ln w="12700">
            <a:solidFill>
              <a:schemeClr val="accent1"/>
            </a:solidFill>
            <a:prstDash val="solid"/>
          </a:ln>
        </p:spPr>
      </p:sp>
      <p:sp>
        <p:nvSpPr>
          <p:cNvPr id="5" name="logo glyph"/>
          <p:cNvSpPr txBox="1"/>
          <p:nvPr/>
        </p:nvSpPr>
        <p:spPr>
          <a:xfrm>
            <a:off x="548640" y="640080"/>
            <a:ext cx="566928" cy="566928"/>
          </a:xfrm>
          <a:prstGeom prst="rect">
            <a:avLst/>
          </a:prstGeom>
          <a:noFill/>
          <a:ln/>
        </p:spPr>
        <p:txBody>
          <a:bodyPr wrap="square" lIns="0" tIns="0" rIns="0" bIns="0" rtlCol="0" anchor="ctr"/>
          <a:lstStyle/>
          <a:p>
            <a:pPr algn="ctr" indent="0" marL="0">
              <a:buNone/>
            </a:pPr>
            <a:r>
              <a:rPr lang="en-US" sz="2000" b="1" dirty="0">
                <a:solidFill>
                  <a:schemeClr val="accent1"/>
                </a:solidFill>
              </a:rPr>
              <a:t>M</a:t>
            </a:r>
            <a:endParaRPr lang="en-US" sz="2000" dirty="0"/>
          </a:p>
        </p:txBody>
      </p:sp>
      <p:sp>
        <p:nvSpPr>
          <p:cNvPr id="6" name="Text 4"/>
          <p:cNvSpPr txBox="1"/>
          <p:nvPr/>
        </p:nvSpPr>
        <p:spPr>
          <a:xfrm>
            <a:off x="1280160" y="640080"/>
            <a:ext cx="2743200" cy="566928"/>
          </a:xfrm>
          <a:prstGeom prst="rect">
            <a:avLst/>
          </a:prstGeom>
          <a:noFill/>
          <a:ln/>
        </p:spPr>
        <p:txBody>
          <a:bodyPr wrap="square" lIns="0" tIns="0" rIns="0" bIns="0" rtlCol="0" anchor="ctr"/>
          <a:lstStyle/>
          <a:p>
            <a:pPr indent="0" marL="0">
              <a:buNone/>
            </a:pPr>
            <a:r>
              <a:rPr lang="en-US" sz="2400" b="1" dirty="0">
                <a:solidFill>
                  <a:schemeClr val="bg1"/>
                </a:solidFill>
              </a:rPr>
              <a:t>Kausa</a:t>
            </a:r>
            <a:endParaRPr lang="en-US" sz="2400" dirty="0"/>
          </a:p>
        </p:txBody>
      </p:sp>
      <p:sp>
        <p:nvSpPr>
          <p:cNvPr id="7" name="Text 5"/>
          <p:cNvSpPr txBox="1"/>
          <p:nvPr/>
        </p:nvSpPr>
        <p:spPr>
          <a:xfrm>
            <a:off x="548640" y="1828800"/>
            <a:ext cx="5669280" cy="457200"/>
          </a:xfrm>
          <a:prstGeom prst="rect">
            <a:avLst/>
          </a:prstGeom>
          <a:noFill/>
          <a:ln/>
        </p:spPr>
        <p:txBody>
          <a:bodyPr wrap="square" lIns="0" tIns="0" rIns="0" bIns="0" rtlCol="0" anchor="ctr"/>
          <a:lstStyle/>
          <a:p>
            <a:pPr indent="0" marL="0">
              <a:buNone/>
            </a:pPr>
            <a:r>
              <a:rPr lang="en-US" sz="1100" b="1" spc="200" kern="0" dirty="0">
                <a:solidFill>
                  <a:schemeClr val="accent2"/>
                </a:solidFill>
              </a:rPr>
              <a:t>OPEN AGENT HACKATHON 2026  ·  TRACK 02</a:t>
            </a:r>
            <a:endParaRPr lang="en-US" sz="1100" dirty="0"/>
          </a:p>
        </p:txBody>
      </p:sp>
      <p:sp>
        <p:nvSpPr>
          <p:cNvPr id="8" name="headline"/>
          <p:cNvSpPr txBox="1"/>
          <p:nvPr/>
        </p:nvSpPr>
        <p:spPr>
          <a:xfrm>
            <a:off x="548640" y="2286000"/>
            <a:ext cx="5486400" cy="1920240"/>
          </a:xfrm>
          <a:prstGeom prst="rect">
            <a:avLst/>
          </a:prstGeom>
          <a:noFill/>
          <a:ln/>
        </p:spPr>
        <p:txBody>
          <a:bodyPr wrap="square" lIns="0" tIns="0" rIns="0" bIns="0" rtlCol="0" anchor="t"/>
          <a:lstStyle/>
          <a:p>
            <a:pPr indent="0" marL="0">
              <a:buNone/>
            </a:pPr>
            <a:r>
              <a:rPr lang="en-US" sz="5000" b="1" dirty="0">
                <a:solidFill>
                  <a:schemeClr val="bg1"/>
                </a:solidFill>
              </a:rPr>
              <a:t>Know why your numbers moved.</a:t>
            </a:r>
            <a:endParaRPr lang="en-US" sz="5000" dirty="0"/>
          </a:p>
        </p:txBody>
      </p:sp>
      <p:sp>
        <p:nvSpPr>
          <p:cNvPr id="9" name="Text 7"/>
          <p:cNvSpPr txBox="1"/>
          <p:nvPr/>
        </p:nvSpPr>
        <p:spPr>
          <a:xfrm>
            <a:off x="548640" y="4251960"/>
            <a:ext cx="5212080" cy="1005840"/>
          </a:xfrm>
          <a:prstGeom prst="rect">
            <a:avLst/>
          </a:prstGeom>
          <a:noFill/>
          <a:ln/>
        </p:spPr>
        <p:txBody>
          <a:bodyPr wrap="square" lIns="0" tIns="0" rIns="0" bIns="0" rtlCol="0" anchor="t"/>
          <a:lstStyle/>
          <a:p>
            <a:pPr indent="0" marL="0">
              <a:buNone/>
            </a:pPr>
            <a:r>
              <a:rPr lang="en-US" sz="1600" dirty="0">
                <a:solidFill>
                  <a:schemeClr val="bg2"/>
                </a:solidFill>
              </a:rPr>
              <a:t>An investigative agent for business metrics. Ask why a number changed — Kausa tests competing explanations against your own data and shows the evidence, including what it ruled out.</a:t>
            </a:r>
            <a:endParaRPr lang="en-US" sz="1600" dirty="0"/>
          </a:p>
        </p:txBody>
      </p:sp>
      <p:sp>
        <p:nvSpPr>
          <p:cNvPr id="10" name="Text 8"/>
          <p:cNvSpPr txBox="1"/>
          <p:nvPr/>
        </p:nvSpPr>
        <p:spPr>
          <a:xfrm>
            <a:off x="548640" y="5715000"/>
            <a:ext cx="5852160" cy="365760"/>
          </a:xfrm>
          <a:prstGeom prst="rect">
            <a:avLst/>
          </a:prstGeom>
          <a:noFill/>
          <a:ln/>
        </p:spPr>
        <p:txBody>
          <a:bodyPr wrap="square" lIns="0" tIns="0" rIns="0" bIns="0" rtlCol="0" anchor="ctr"/>
          <a:lstStyle/>
          <a:p>
            <a:pPr indent="0" marL="0">
              <a:buNone/>
            </a:pPr>
            <a:r>
              <a:rPr lang="en-US" sz="1300" b="1" dirty="0">
                <a:solidFill>
                  <a:schemeClr val="accent3"/>
                </a:solidFill>
              </a:rPr>
              <a:t>Live  </a:t>
            </a:r>
            <a:pPr indent="0" marL="0">
              <a:buNone/>
            </a:pPr>
            <a:r>
              <a:rPr lang="en-US" sz="13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kausa-gqp.pages.dev</a:t>
            </a:r>
            <a:pPr indent="0" marL="0">
              <a:buNone/>
            </a:pPr>
            <a:r>
              <a:rPr lang="en-US" sz="1300" b="1" dirty="0">
                <a:solidFill>
                  <a:schemeClr val="accent5"/>
                </a:solidFill>
              </a:rPr>
              <a:t>     Demo  </a:t>
            </a:r>
            <a:pPr indent="0" marL="0">
              <a:buNone/>
            </a:pPr>
            <a:r>
              <a:rPr lang="en-US" sz="13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youtu.be/x4X7j_lqx_k</a:t>
            </a:r>
            <a:endParaRPr lang="en-US" sz="1300" dirty="0"/>
          </a:p>
        </p:txBody>
      </p:sp>
      <p:sp>
        <p:nvSpPr>
          <p:cNvPr id="11" name="Verdict screen frame"/>
          <p:cNvSpPr/>
          <p:nvPr/>
        </p:nvSpPr>
        <p:spPr>
          <a:xfrm>
            <a:off x="6483096" y="1271016"/>
            <a:ext cx="5230368" cy="3310128"/>
          </a:xfrm>
          <a:prstGeom prst="roundRect">
            <a:avLst>
              <a:gd name="adj" fmla="val 2762"/>
            </a:avLst>
          </a:prstGeom>
          <a:solidFill>
            <a:schemeClr val="tx2"/>
          </a:solidFill>
          <a:ln w="12700">
            <a:solidFill>
              <a:schemeClr val="accent1">
                <a:alpha val="45000"/>
              </a:schemeClr>
            </a:solidFill>
            <a:prstDash val="solid"/>
          </a:ln>
          <a:effectLst>
            <a:outerShdw sx="100000" sy="100000" kx="0" ky="0" algn="bl" rotWithShape="0" blurRad="381000" dist="127000" dir="5400000">
              <a:srgbClr val="000000">
                <a:alpha val="60000"/>
              </a:srgbClr>
            </a:outerShdw>
          </a:effectLst>
        </p:spPr>
      </p:sp>
      <p:pic>
        <p:nvPicPr>
          <p:cNvPr id="12" name="Verdict screen" descr="Verdict screen">    </p:cNvPr>
          <p:cNvPicPr>
            <a:picLocks noChangeAspect="1"/>
          </p:cNvPicPr>
          <p:nvPr/>
        </p:nvPicPr>
        <p:blipFill>
          <a:blip r:embed="rId3"/>
          <a:stretch>
            <a:fillRect/>
          </a:stretch>
        </p:blipFill>
        <p:spPr>
          <a:xfrm>
            <a:off x="6537960" y="1325880"/>
            <a:ext cx="5120640" cy="3200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THE PROBLEM</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Dashboards show what moved. Nobody shows you why.</a:t>
            </a:r>
            <a:endParaRPr lang="en-US" sz="3600" dirty="0"/>
          </a:p>
        </p:txBody>
      </p:sp>
      <p:sp>
        <p:nvSpPr>
          <p:cNvPr id="4" name="Dashboards card"/>
          <p:cNvSpPr/>
          <p:nvPr/>
        </p:nvSpPr>
        <p:spPr>
          <a:xfrm>
            <a:off x="548640" y="1874520"/>
            <a:ext cx="3520440" cy="2788920"/>
          </a:xfrm>
          <a:prstGeom prst="roundRect">
            <a:avLst>
              <a:gd name="adj" fmla="val 3934"/>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5" name="Dashboards icon badge"/>
          <p:cNvSpPr/>
          <p:nvPr/>
        </p:nvSpPr>
        <p:spPr>
          <a:xfrm>
            <a:off x="868680" y="2194560"/>
            <a:ext cx="640080" cy="640080"/>
          </a:xfrm>
          <a:prstGeom prst="ellipse">
            <a:avLst/>
          </a:prstGeom>
          <a:solidFill>
            <a:schemeClr val="accent2">
              <a:alpha val="18000"/>
            </a:schemeClr>
          </a:solidFill>
          <a:ln w="12700">
            <a:solidFill>
              <a:schemeClr val="accent2"/>
            </a:solidFill>
            <a:prstDash val="solid"/>
          </a:ln>
        </p:spPr>
      </p:sp>
      <p:pic>
        <p:nvPicPr>
          <p:cNvPr id="6" name="Dashboards icon" descr="preencoded.png">    </p:cNvPr>
          <p:cNvPicPr>
            <a:picLocks noChangeAspect="1"/>
          </p:cNvPicPr>
          <p:nvPr/>
        </p:nvPicPr>
        <p:blipFill>
          <a:blip r:embed="rId1"/>
          <a:stretch>
            <a:fillRect/>
          </a:stretch>
        </p:blipFill>
        <p:spPr>
          <a:xfrm>
            <a:off x="1028700" y="2354580"/>
            <a:ext cx="320040" cy="320040"/>
          </a:xfrm>
          <a:prstGeom prst="rect">
            <a:avLst/>
          </a:prstGeom>
        </p:spPr>
      </p:pic>
      <p:sp>
        <p:nvSpPr>
          <p:cNvPr id="7" name="Text 4"/>
          <p:cNvSpPr txBox="1"/>
          <p:nvPr/>
        </p:nvSpPr>
        <p:spPr>
          <a:xfrm>
            <a:off x="868680" y="3017520"/>
            <a:ext cx="2880360" cy="457200"/>
          </a:xfrm>
          <a:prstGeom prst="rect">
            <a:avLst/>
          </a:prstGeom>
          <a:noFill/>
          <a:ln/>
        </p:spPr>
        <p:txBody>
          <a:bodyPr wrap="square" lIns="0" tIns="0" rIns="0" bIns="0" rtlCol="0" anchor="ctr"/>
          <a:lstStyle/>
          <a:p>
            <a:pPr indent="0" marL="0">
              <a:buNone/>
            </a:pPr>
            <a:r>
              <a:rPr lang="en-US" sz="2200" b="1" dirty="0">
                <a:solidFill>
                  <a:schemeClr val="bg1"/>
                </a:solidFill>
              </a:rPr>
              <a:t>Dashboards</a:t>
            </a:r>
            <a:endParaRPr lang="en-US" sz="2200" dirty="0"/>
          </a:p>
        </p:txBody>
      </p:sp>
      <p:sp>
        <p:nvSpPr>
          <p:cNvPr id="8" name="Text 5"/>
          <p:cNvSpPr txBox="1"/>
          <p:nvPr/>
        </p:nvSpPr>
        <p:spPr>
          <a:xfrm>
            <a:off x="868680" y="3520440"/>
            <a:ext cx="2880360" cy="1005840"/>
          </a:xfrm>
          <a:prstGeom prst="rect">
            <a:avLst/>
          </a:prstGeom>
          <a:noFill/>
          <a:ln/>
        </p:spPr>
        <p:txBody>
          <a:bodyPr wrap="square" lIns="0" tIns="0" rIns="0" bIns="0" rtlCol="0" anchor="t"/>
          <a:lstStyle/>
          <a:p>
            <a:pPr indent="0" marL="0">
              <a:buNone/>
            </a:pPr>
            <a:r>
              <a:rPr lang="en-US" sz="1500" dirty="0">
                <a:solidFill>
                  <a:schemeClr val="bg2"/>
                </a:solidFill>
              </a:rPr>
              <a:t>Show that sales fell 8% — then stop. The “why” is left to whoever has time.</a:t>
            </a:r>
            <a:endParaRPr lang="en-US" sz="1500" dirty="0"/>
          </a:p>
        </p:txBody>
      </p:sp>
      <p:sp>
        <p:nvSpPr>
          <p:cNvPr id="9" name="Analysts card"/>
          <p:cNvSpPr/>
          <p:nvPr/>
        </p:nvSpPr>
        <p:spPr>
          <a:xfrm>
            <a:off x="4407408" y="1874520"/>
            <a:ext cx="3520440" cy="2788920"/>
          </a:xfrm>
          <a:prstGeom prst="roundRect">
            <a:avLst>
              <a:gd name="adj" fmla="val 3934"/>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0" name="Analysts icon badge"/>
          <p:cNvSpPr/>
          <p:nvPr/>
        </p:nvSpPr>
        <p:spPr>
          <a:xfrm>
            <a:off x="4727448" y="2194560"/>
            <a:ext cx="640080" cy="640080"/>
          </a:xfrm>
          <a:prstGeom prst="ellipse">
            <a:avLst/>
          </a:prstGeom>
          <a:solidFill>
            <a:schemeClr val="accent4">
              <a:alpha val="18000"/>
            </a:schemeClr>
          </a:solidFill>
          <a:ln w="12700">
            <a:solidFill>
              <a:schemeClr val="accent4"/>
            </a:solidFill>
            <a:prstDash val="solid"/>
          </a:ln>
        </p:spPr>
      </p:sp>
      <p:pic>
        <p:nvPicPr>
          <p:cNvPr id="11" name="Analysts icon" descr="preencoded.png">    </p:cNvPr>
          <p:cNvPicPr>
            <a:picLocks noChangeAspect="1"/>
          </p:cNvPicPr>
          <p:nvPr/>
        </p:nvPicPr>
        <p:blipFill>
          <a:blip r:embed="rId2"/>
          <a:stretch>
            <a:fillRect/>
          </a:stretch>
        </p:blipFill>
        <p:spPr>
          <a:xfrm>
            <a:off x="4887468" y="2354580"/>
            <a:ext cx="320040" cy="320040"/>
          </a:xfrm>
          <a:prstGeom prst="rect">
            <a:avLst/>
          </a:prstGeom>
        </p:spPr>
      </p:pic>
      <p:sp>
        <p:nvSpPr>
          <p:cNvPr id="12" name="Text 8"/>
          <p:cNvSpPr txBox="1"/>
          <p:nvPr/>
        </p:nvSpPr>
        <p:spPr>
          <a:xfrm>
            <a:off x="4727448" y="3017520"/>
            <a:ext cx="2880360" cy="457200"/>
          </a:xfrm>
          <a:prstGeom prst="rect">
            <a:avLst/>
          </a:prstGeom>
          <a:noFill/>
          <a:ln/>
        </p:spPr>
        <p:txBody>
          <a:bodyPr wrap="square" lIns="0" tIns="0" rIns="0" bIns="0" rtlCol="0" anchor="ctr"/>
          <a:lstStyle/>
          <a:p>
            <a:pPr indent="0" marL="0">
              <a:buNone/>
            </a:pPr>
            <a:r>
              <a:rPr lang="en-US" sz="2200" b="1" dirty="0">
                <a:solidFill>
                  <a:schemeClr val="bg1"/>
                </a:solidFill>
              </a:rPr>
              <a:t>Analysts</a:t>
            </a:r>
            <a:endParaRPr lang="en-US" sz="2200" dirty="0"/>
          </a:p>
        </p:txBody>
      </p:sp>
      <p:sp>
        <p:nvSpPr>
          <p:cNvPr id="13" name="Text 9"/>
          <p:cNvSpPr txBox="1"/>
          <p:nvPr/>
        </p:nvSpPr>
        <p:spPr>
          <a:xfrm>
            <a:off x="4727448" y="3520440"/>
            <a:ext cx="2880360" cy="1005840"/>
          </a:xfrm>
          <a:prstGeom prst="rect">
            <a:avLst/>
          </a:prstGeom>
          <a:noFill/>
          <a:ln/>
        </p:spPr>
        <p:txBody>
          <a:bodyPr wrap="square" lIns="0" tIns="0" rIns="0" bIns="0" rtlCol="0" anchor="t"/>
          <a:lstStyle/>
          <a:p>
            <a:pPr indent="0" marL="0">
              <a:buNone/>
            </a:pPr>
            <a:r>
              <a:rPr lang="en-US" sz="1500" dirty="0">
                <a:solidFill>
                  <a:schemeClr val="bg2"/>
                </a:solidFill>
              </a:rPr>
              <a:t>Can answer it properly, but take days, cost money and are not on call for every store.</a:t>
            </a:r>
            <a:endParaRPr lang="en-US" sz="1500" dirty="0"/>
          </a:p>
        </p:txBody>
      </p:sp>
      <p:sp>
        <p:nvSpPr>
          <p:cNvPr id="14" name="Chat assistants card"/>
          <p:cNvSpPr/>
          <p:nvPr/>
        </p:nvSpPr>
        <p:spPr>
          <a:xfrm>
            <a:off x="8266176" y="1874520"/>
            <a:ext cx="3520440" cy="2788920"/>
          </a:xfrm>
          <a:prstGeom prst="roundRect">
            <a:avLst>
              <a:gd name="adj" fmla="val 3934"/>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5" name="Chat assistants icon badge"/>
          <p:cNvSpPr/>
          <p:nvPr/>
        </p:nvSpPr>
        <p:spPr>
          <a:xfrm>
            <a:off x="8586216" y="2194560"/>
            <a:ext cx="640080" cy="640080"/>
          </a:xfrm>
          <a:prstGeom prst="ellipse">
            <a:avLst/>
          </a:prstGeom>
          <a:solidFill>
            <a:schemeClr val="accent5">
              <a:alpha val="18000"/>
            </a:schemeClr>
          </a:solidFill>
          <a:ln w="12700">
            <a:solidFill>
              <a:schemeClr val="accent5"/>
            </a:solidFill>
            <a:prstDash val="solid"/>
          </a:ln>
        </p:spPr>
      </p:sp>
      <p:pic>
        <p:nvPicPr>
          <p:cNvPr id="16" name="Chat assistants icon" descr="preencoded.png">    </p:cNvPr>
          <p:cNvPicPr>
            <a:picLocks noChangeAspect="1"/>
          </p:cNvPicPr>
          <p:nvPr/>
        </p:nvPicPr>
        <p:blipFill>
          <a:blip r:embed="rId3"/>
          <a:stretch>
            <a:fillRect/>
          </a:stretch>
        </p:blipFill>
        <p:spPr>
          <a:xfrm>
            <a:off x="8746236" y="2354580"/>
            <a:ext cx="320040" cy="320040"/>
          </a:xfrm>
          <a:prstGeom prst="rect">
            <a:avLst/>
          </a:prstGeom>
        </p:spPr>
      </p:pic>
      <p:sp>
        <p:nvSpPr>
          <p:cNvPr id="17" name="Text 12"/>
          <p:cNvSpPr txBox="1"/>
          <p:nvPr/>
        </p:nvSpPr>
        <p:spPr>
          <a:xfrm>
            <a:off x="8586216" y="3017520"/>
            <a:ext cx="2880360" cy="457200"/>
          </a:xfrm>
          <a:prstGeom prst="rect">
            <a:avLst/>
          </a:prstGeom>
          <a:noFill/>
          <a:ln/>
        </p:spPr>
        <p:txBody>
          <a:bodyPr wrap="square" lIns="0" tIns="0" rIns="0" bIns="0" rtlCol="0" anchor="ctr"/>
          <a:lstStyle/>
          <a:p>
            <a:pPr indent="0" marL="0">
              <a:buNone/>
            </a:pPr>
            <a:r>
              <a:rPr lang="en-US" sz="2200" b="1" dirty="0">
                <a:solidFill>
                  <a:schemeClr val="bg1"/>
                </a:solidFill>
              </a:rPr>
              <a:t>Chat assistants</a:t>
            </a:r>
            <a:endParaRPr lang="en-US" sz="2200" dirty="0"/>
          </a:p>
        </p:txBody>
      </p:sp>
      <p:sp>
        <p:nvSpPr>
          <p:cNvPr id="18" name="Text 13"/>
          <p:cNvSpPr txBox="1"/>
          <p:nvPr/>
        </p:nvSpPr>
        <p:spPr>
          <a:xfrm>
            <a:off x="8586216" y="3520440"/>
            <a:ext cx="2880360" cy="1005840"/>
          </a:xfrm>
          <a:prstGeom prst="rect">
            <a:avLst/>
          </a:prstGeom>
          <a:noFill/>
          <a:ln/>
        </p:spPr>
        <p:txBody>
          <a:bodyPr wrap="square" lIns="0" tIns="0" rIns="0" bIns="0" rtlCol="0" anchor="t"/>
          <a:lstStyle/>
          <a:p>
            <a:pPr indent="0" marL="0">
              <a:buNone/>
            </a:pPr>
            <a:r>
              <a:rPr lang="en-US" sz="1500" dirty="0">
                <a:solidFill>
                  <a:schemeClr val="bg2"/>
                </a:solidFill>
              </a:rPr>
              <a:t>Answer instantly with a plausible story — never tested against the data, numbers often invented.</a:t>
            </a:r>
            <a:endParaRPr lang="en-US" sz="1500" dirty="0"/>
          </a:p>
        </p:txBody>
      </p:sp>
      <p:sp>
        <p:nvSpPr>
          <p:cNvPr id="19" name="consequence band"/>
          <p:cNvSpPr/>
          <p:nvPr/>
        </p:nvSpPr>
        <p:spPr>
          <a:xfrm>
            <a:off x="548640" y="4983480"/>
            <a:ext cx="11094415" cy="1051560"/>
          </a:xfrm>
          <a:prstGeom prst="roundRect">
            <a:avLst>
              <a:gd name="adj" fmla="val 10435"/>
            </a:avLst>
          </a:prstGeom>
          <a:solidFill>
            <a:schemeClr val="tx2"/>
          </a:solidFill>
          <a:ln w="9525">
            <a:solidFill>
              <a:schemeClr val="accent5"/>
            </a:solidFill>
            <a:prstDash val="solid"/>
          </a:ln>
        </p:spPr>
      </p:sp>
      <p:sp>
        <p:nvSpPr>
          <p:cNvPr id="20" name="Text 15"/>
          <p:cNvSpPr txBox="1"/>
          <p:nvPr/>
        </p:nvSpPr>
        <p:spPr>
          <a:xfrm>
            <a:off x="868680" y="4983480"/>
            <a:ext cx="10454335" cy="1051560"/>
          </a:xfrm>
          <a:prstGeom prst="rect">
            <a:avLst/>
          </a:prstGeom>
          <a:noFill/>
          <a:ln/>
        </p:spPr>
        <p:txBody>
          <a:bodyPr wrap="square" lIns="0" tIns="0" rIns="0" bIns="0" rtlCol="0" anchor="ctr"/>
          <a:lstStyle/>
          <a:p>
            <a:pPr indent="0" marL="0">
              <a:buNone/>
            </a:pPr>
            <a:r>
              <a:rPr lang="en-US" sz="1600" b="1" dirty="0">
                <a:solidFill>
                  <a:schemeClr val="accent5"/>
                </a:solidFill>
              </a:rPr>
              <a:t>The result: </a:t>
            </a:r>
            <a:pPr indent="0" marL="0">
              <a:buNone/>
            </a:pPr>
            <a:r>
              <a:rPr lang="en-US" sz="1600" dirty="0">
                <a:solidFill>
                  <a:schemeClr val="bg1"/>
                </a:solidFill>
              </a:rPr>
              <a:t>wrong decisions. Cutting a promotion that was working, blaming staff for a supplier price rise, missing a competitor opening.</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THE SOLUTION</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Ask why in plain language. Kausa investigates</a:t>
            </a:r>
            <a:endParaRPr lang="en-US" sz="3600" dirty="0"/>
          </a:p>
        </p:txBody>
      </p:sp>
      <p:sp>
        <p:nvSpPr>
          <p:cNvPr id="4" name="1  Upload badge"/>
          <p:cNvSpPr/>
          <p:nvPr/>
        </p:nvSpPr>
        <p:spPr>
          <a:xfrm>
            <a:off x="548640" y="1783080"/>
            <a:ext cx="603504" cy="603504"/>
          </a:xfrm>
          <a:prstGeom prst="ellipse">
            <a:avLst/>
          </a:prstGeom>
          <a:solidFill>
            <a:schemeClr val="accent2">
              <a:alpha val="18000"/>
            </a:schemeClr>
          </a:solidFill>
          <a:ln w="12700">
            <a:solidFill>
              <a:schemeClr val="accent2"/>
            </a:solidFill>
            <a:prstDash val="solid"/>
          </a:ln>
        </p:spPr>
      </p:sp>
      <p:pic>
        <p:nvPicPr>
          <p:cNvPr id="5" name="1  Upload" descr="preencoded.png">    </p:cNvPr>
          <p:cNvPicPr>
            <a:picLocks noChangeAspect="1"/>
          </p:cNvPicPr>
          <p:nvPr/>
        </p:nvPicPr>
        <p:blipFill>
          <a:blip r:embed="rId1"/>
          <a:stretch>
            <a:fillRect/>
          </a:stretch>
        </p:blipFill>
        <p:spPr>
          <a:xfrm>
            <a:off x="699516" y="1933956"/>
            <a:ext cx="301752" cy="301752"/>
          </a:xfrm>
          <a:prstGeom prst="rect">
            <a:avLst/>
          </a:prstGeom>
        </p:spPr>
      </p:pic>
      <p:sp>
        <p:nvSpPr>
          <p:cNvPr id="6" name="Text 3"/>
          <p:cNvSpPr txBox="1"/>
          <p:nvPr/>
        </p:nvSpPr>
        <p:spPr>
          <a:xfrm>
            <a:off x="1371600" y="1764792"/>
            <a:ext cx="3749040" cy="384048"/>
          </a:xfrm>
          <a:prstGeom prst="rect">
            <a:avLst/>
          </a:prstGeom>
          <a:noFill/>
          <a:ln/>
        </p:spPr>
        <p:txBody>
          <a:bodyPr wrap="square" lIns="0" tIns="0" rIns="0" bIns="0" rtlCol="0" anchor="ctr"/>
          <a:lstStyle/>
          <a:p>
            <a:pPr indent="0" marL="0">
              <a:buNone/>
            </a:pPr>
            <a:r>
              <a:rPr lang="en-US" sz="2000" b="1" dirty="0">
                <a:solidFill>
                  <a:schemeClr val="bg1"/>
                </a:solidFill>
              </a:rPr>
              <a:t>1  Upload</a:t>
            </a:r>
            <a:endParaRPr lang="en-US" sz="2000" dirty="0"/>
          </a:p>
        </p:txBody>
      </p:sp>
      <p:sp>
        <p:nvSpPr>
          <p:cNvPr id="7" name="Text 4"/>
          <p:cNvSpPr txBox="1"/>
          <p:nvPr/>
        </p:nvSpPr>
        <p:spPr>
          <a:xfrm>
            <a:off x="1371600" y="2167128"/>
            <a:ext cx="3749040" cy="868680"/>
          </a:xfrm>
          <a:prstGeom prst="rect">
            <a:avLst/>
          </a:prstGeom>
          <a:noFill/>
          <a:ln/>
        </p:spPr>
        <p:txBody>
          <a:bodyPr wrap="square" lIns="0" tIns="0" rIns="0" bIns="0" rtlCol="0" anchor="t"/>
          <a:lstStyle/>
          <a:p>
            <a:pPr indent="0" marL="0">
              <a:buNone/>
            </a:pPr>
            <a:r>
              <a:rPr lang="en-US" sz="1400" dirty="0">
                <a:solidFill>
                  <a:schemeClr val="bg2"/>
                </a:solidFill>
              </a:rPr>
              <a:t>A CSV or Excel export. Kausa finds the date, the metric and the driver columns itself.</a:t>
            </a:r>
            <a:endParaRPr lang="en-US" sz="1400" dirty="0"/>
          </a:p>
        </p:txBody>
      </p:sp>
      <p:sp>
        <p:nvSpPr>
          <p:cNvPr id="8" name="2  Ask badge"/>
          <p:cNvSpPr/>
          <p:nvPr/>
        </p:nvSpPr>
        <p:spPr>
          <a:xfrm>
            <a:off x="548640" y="3200400"/>
            <a:ext cx="603504" cy="603504"/>
          </a:xfrm>
          <a:prstGeom prst="ellipse">
            <a:avLst/>
          </a:prstGeom>
          <a:solidFill>
            <a:schemeClr val="accent1">
              <a:alpha val="18000"/>
            </a:schemeClr>
          </a:solidFill>
          <a:ln w="12700">
            <a:solidFill>
              <a:schemeClr val="accent1"/>
            </a:solidFill>
            <a:prstDash val="solid"/>
          </a:ln>
        </p:spPr>
      </p:sp>
      <p:pic>
        <p:nvPicPr>
          <p:cNvPr id="9" name="2  Ask" descr="preencoded.png">    </p:cNvPr>
          <p:cNvPicPr>
            <a:picLocks noChangeAspect="1"/>
          </p:cNvPicPr>
          <p:nvPr/>
        </p:nvPicPr>
        <p:blipFill>
          <a:blip r:embed="rId2"/>
          <a:stretch>
            <a:fillRect/>
          </a:stretch>
        </p:blipFill>
        <p:spPr>
          <a:xfrm>
            <a:off x="699516" y="3351276"/>
            <a:ext cx="301752" cy="301752"/>
          </a:xfrm>
          <a:prstGeom prst="rect">
            <a:avLst/>
          </a:prstGeom>
        </p:spPr>
      </p:pic>
      <p:sp>
        <p:nvSpPr>
          <p:cNvPr id="10" name="Text 6"/>
          <p:cNvSpPr txBox="1"/>
          <p:nvPr/>
        </p:nvSpPr>
        <p:spPr>
          <a:xfrm>
            <a:off x="1371600" y="3182112"/>
            <a:ext cx="3749040" cy="384048"/>
          </a:xfrm>
          <a:prstGeom prst="rect">
            <a:avLst/>
          </a:prstGeom>
          <a:noFill/>
          <a:ln/>
        </p:spPr>
        <p:txBody>
          <a:bodyPr wrap="square" lIns="0" tIns="0" rIns="0" bIns="0" rtlCol="0" anchor="ctr"/>
          <a:lstStyle/>
          <a:p>
            <a:pPr indent="0" marL="0">
              <a:buNone/>
            </a:pPr>
            <a:r>
              <a:rPr lang="en-US" sz="2000" b="1" dirty="0">
                <a:solidFill>
                  <a:schemeClr val="bg1"/>
                </a:solidFill>
              </a:rPr>
              <a:t>2  Ask</a:t>
            </a:r>
            <a:endParaRPr lang="en-US" sz="2000" dirty="0"/>
          </a:p>
        </p:txBody>
      </p:sp>
      <p:sp>
        <p:nvSpPr>
          <p:cNvPr id="11" name="Text 7"/>
          <p:cNvSpPr txBox="1"/>
          <p:nvPr/>
        </p:nvSpPr>
        <p:spPr>
          <a:xfrm>
            <a:off x="1371600" y="3584448"/>
            <a:ext cx="3749040" cy="868680"/>
          </a:xfrm>
          <a:prstGeom prst="rect">
            <a:avLst/>
          </a:prstGeom>
          <a:noFill/>
          <a:ln/>
        </p:spPr>
        <p:txBody>
          <a:bodyPr wrap="square" lIns="0" tIns="0" rIns="0" bIns="0" rtlCol="0" anchor="t"/>
          <a:lstStyle/>
          <a:p>
            <a:pPr indent="0" marL="0">
              <a:buNone/>
            </a:pPr>
            <a:r>
              <a:rPr lang="en-US" sz="1400" dirty="0">
                <a:solidFill>
                  <a:schemeClr val="bg2"/>
                </a:solidFill>
              </a:rPr>
              <a:t>“Why did net sales drop in September?” Confirm or edit the scope and windows.</a:t>
            </a:r>
            <a:endParaRPr lang="en-US" sz="1400" dirty="0"/>
          </a:p>
        </p:txBody>
      </p:sp>
      <p:sp>
        <p:nvSpPr>
          <p:cNvPr id="12" name="3  Get a verdict badge"/>
          <p:cNvSpPr/>
          <p:nvPr/>
        </p:nvSpPr>
        <p:spPr>
          <a:xfrm>
            <a:off x="548640" y="4617720"/>
            <a:ext cx="603504" cy="603504"/>
          </a:xfrm>
          <a:prstGeom prst="ellipse">
            <a:avLst/>
          </a:prstGeom>
          <a:solidFill>
            <a:schemeClr val="accent3">
              <a:alpha val="18000"/>
            </a:schemeClr>
          </a:solidFill>
          <a:ln w="12700">
            <a:solidFill>
              <a:schemeClr val="accent3"/>
            </a:solidFill>
            <a:prstDash val="solid"/>
          </a:ln>
        </p:spPr>
      </p:sp>
      <p:pic>
        <p:nvPicPr>
          <p:cNvPr id="13" name="3  Get a verdict" descr="preencoded.png">    </p:cNvPr>
          <p:cNvPicPr>
            <a:picLocks noChangeAspect="1"/>
          </p:cNvPicPr>
          <p:nvPr/>
        </p:nvPicPr>
        <p:blipFill>
          <a:blip r:embed="rId3"/>
          <a:stretch>
            <a:fillRect/>
          </a:stretch>
        </p:blipFill>
        <p:spPr>
          <a:xfrm>
            <a:off x="699516" y="4768596"/>
            <a:ext cx="301752" cy="301752"/>
          </a:xfrm>
          <a:prstGeom prst="rect">
            <a:avLst/>
          </a:prstGeom>
        </p:spPr>
      </p:pic>
      <p:sp>
        <p:nvSpPr>
          <p:cNvPr id="14" name="Text 9"/>
          <p:cNvSpPr txBox="1"/>
          <p:nvPr/>
        </p:nvSpPr>
        <p:spPr>
          <a:xfrm>
            <a:off x="1371600" y="4599432"/>
            <a:ext cx="3749040" cy="384048"/>
          </a:xfrm>
          <a:prstGeom prst="rect">
            <a:avLst/>
          </a:prstGeom>
          <a:noFill/>
          <a:ln/>
        </p:spPr>
        <p:txBody>
          <a:bodyPr wrap="square" lIns="0" tIns="0" rIns="0" bIns="0" rtlCol="0" anchor="ctr"/>
          <a:lstStyle/>
          <a:p>
            <a:pPr indent="0" marL="0">
              <a:buNone/>
            </a:pPr>
            <a:r>
              <a:rPr lang="en-US" sz="2000" b="1" dirty="0">
                <a:solidFill>
                  <a:schemeClr val="bg1"/>
                </a:solidFill>
              </a:rPr>
              <a:t>3  Get a verdict</a:t>
            </a:r>
            <a:endParaRPr lang="en-US" sz="2000" dirty="0"/>
          </a:p>
        </p:txBody>
      </p:sp>
      <p:sp>
        <p:nvSpPr>
          <p:cNvPr id="15" name="Text 10"/>
          <p:cNvSpPr txBox="1"/>
          <p:nvPr/>
        </p:nvSpPr>
        <p:spPr>
          <a:xfrm>
            <a:off x="1371600" y="5001768"/>
            <a:ext cx="3749040" cy="868680"/>
          </a:xfrm>
          <a:prstGeom prst="rect">
            <a:avLst/>
          </a:prstGeom>
          <a:noFill/>
          <a:ln/>
        </p:spPr>
        <p:txBody>
          <a:bodyPr wrap="square" lIns="0" tIns="0" rIns="0" bIns="0" rtlCol="0" anchor="t"/>
          <a:lstStyle/>
          <a:p>
            <a:pPr indent="0" marL="0">
              <a:buNone/>
            </a:pPr>
            <a:r>
              <a:rPr lang="en-US" sz="1400" dirty="0">
                <a:solidFill>
                  <a:schemeClr val="bg2"/>
                </a:solidFill>
              </a:rPr>
              <a:t>Ranked causes, what was ruled out, recommendations — every number clickable to its evidence.</a:t>
            </a:r>
            <a:endParaRPr lang="en-US" sz="1400" dirty="0"/>
          </a:p>
        </p:txBody>
      </p:sp>
      <p:sp>
        <p:nvSpPr>
          <p:cNvPr id="16" name="Ask screen frame"/>
          <p:cNvSpPr/>
          <p:nvPr/>
        </p:nvSpPr>
        <p:spPr>
          <a:xfrm>
            <a:off x="5568696" y="1728216"/>
            <a:ext cx="6099048" cy="3853053"/>
          </a:xfrm>
          <a:prstGeom prst="roundRect">
            <a:avLst>
              <a:gd name="adj" fmla="val 2373"/>
            </a:avLst>
          </a:prstGeom>
          <a:solidFill>
            <a:schemeClr val="tx2"/>
          </a:solidFill>
          <a:ln w="12700">
            <a:solidFill>
              <a:schemeClr val="accent1">
                <a:alpha val="45000"/>
              </a:schemeClr>
            </a:solidFill>
            <a:prstDash val="solid"/>
          </a:ln>
          <a:effectLst>
            <a:outerShdw sx="100000" sy="100000" kx="0" ky="0" algn="bl" rotWithShape="0" blurRad="381000" dist="127000" dir="5400000">
              <a:srgbClr val="000000">
                <a:alpha val="60000"/>
              </a:srgbClr>
            </a:outerShdw>
          </a:effectLst>
        </p:spPr>
      </p:sp>
      <p:pic>
        <p:nvPicPr>
          <p:cNvPr id="17" name="Ask screen" descr="Ask screen">    </p:cNvPr>
          <p:cNvPicPr>
            <a:picLocks noChangeAspect="1"/>
          </p:cNvPicPr>
          <p:nvPr/>
        </p:nvPicPr>
        <p:blipFill>
          <a:blip r:embed="rId4"/>
          <a:stretch>
            <a:fillRect/>
          </a:stretch>
        </p:blipFill>
        <p:spPr>
          <a:xfrm>
            <a:off x="5623560" y="1783080"/>
            <a:ext cx="5989320" cy="3743325"/>
          </a:xfrm>
          <a:prstGeom prst="rect">
            <a:avLst/>
          </a:prstGeom>
        </p:spPr>
      </p:pic>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HOW IT WORKS</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An investigation, not a guess</a:t>
            </a:r>
            <a:endParaRPr lang="en-US" sz="3600" dirty="0"/>
          </a:p>
        </p:txBody>
      </p:sp>
      <p:sp>
        <p:nvSpPr>
          <p:cNvPr id="4" name="Scope step"/>
          <p:cNvSpPr/>
          <p:nvPr/>
        </p:nvSpPr>
        <p:spPr>
          <a:xfrm>
            <a:off x="548640" y="2103120"/>
            <a:ext cx="1700784" cy="2926080"/>
          </a:xfrm>
          <a:prstGeom prst="roundRect">
            <a:avLst>
              <a:gd name="adj" fmla="val 6452"/>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5" name="Scope badge"/>
          <p:cNvSpPr/>
          <p:nvPr/>
        </p:nvSpPr>
        <p:spPr>
          <a:xfrm>
            <a:off x="777240" y="2377440"/>
            <a:ext cx="566928" cy="566928"/>
          </a:xfrm>
          <a:prstGeom prst="ellipse">
            <a:avLst/>
          </a:prstGeom>
          <a:solidFill>
            <a:schemeClr val="accent2">
              <a:alpha val="18000"/>
            </a:schemeClr>
          </a:solidFill>
          <a:ln w="12700">
            <a:solidFill>
              <a:schemeClr val="accent2"/>
            </a:solidFill>
            <a:prstDash val="solid"/>
          </a:ln>
        </p:spPr>
      </p:sp>
      <p:pic>
        <p:nvPicPr>
          <p:cNvPr id="6" name="Scope" descr="preencoded.png">    </p:cNvPr>
          <p:cNvPicPr>
            <a:picLocks noChangeAspect="1"/>
          </p:cNvPicPr>
          <p:nvPr/>
        </p:nvPicPr>
        <p:blipFill>
          <a:blip r:embed="rId1"/>
          <a:stretch>
            <a:fillRect/>
          </a:stretch>
        </p:blipFill>
        <p:spPr>
          <a:xfrm>
            <a:off x="918972" y="2519172"/>
            <a:ext cx="283464" cy="283464"/>
          </a:xfrm>
          <a:prstGeom prst="rect">
            <a:avLst/>
          </a:prstGeom>
        </p:spPr>
      </p:pic>
      <p:sp>
        <p:nvSpPr>
          <p:cNvPr id="7" name="Text 4"/>
          <p:cNvSpPr txBox="1"/>
          <p:nvPr/>
        </p:nvSpPr>
        <p:spPr>
          <a:xfrm>
            <a:off x="1563624" y="2377440"/>
            <a:ext cx="457200" cy="365760"/>
          </a:xfrm>
          <a:prstGeom prst="rect">
            <a:avLst/>
          </a:prstGeom>
          <a:noFill/>
          <a:ln/>
        </p:spPr>
        <p:txBody>
          <a:bodyPr wrap="square" lIns="0" tIns="0" rIns="0" bIns="0" rtlCol="0" anchor="ctr"/>
          <a:lstStyle/>
          <a:p>
            <a:pPr algn="r" indent="0" marL="0">
              <a:buNone/>
            </a:pPr>
            <a:r>
              <a:rPr lang="en-US" sz="1400" b="1" dirty="0">
                <a:solidFill>
                  <a:schemeClr val="accent2"/>
                </a:solidFill>
              </a:rPr>
              <a:t>01</a:t>
            </a:r>
            <a:endParaRPr lang="en-US" sz="1400" dirty="0"/>
          </a:p>
        </p:txBody>
      </p:sp>
      <p:sp>
        <p:nvSpPr>
          <p:cNvPr id="8" name="Text 5"/>
          <p:cNvSpPr txBox="1"/>
          <p:nvPr/>
        </p:nvSpPr>
        <p:spPr>
          <a:xfrm>
            <a:off x="777240" y="3127248"/>
            <a:ext cx="1335024" cy="685800"/>
          </a:xfrm>
          <a:prstGeom prst="rect">
            <a:avLst/>
          </a:prstGeom>
          <a:noFill/>
          <a:ln/>
        </p:spPr>
        <p:txBody>
          <a:bodyPr wrap="square" lIns="0" tIns="0" rIns="0" bIns="0" rtlCol="0" anchor="t"/>
          <a:lstStyle/>
          <a:p>
            <a:pPr indent="0" marL="0">
              <a:buNone/>
            </a:pPr>
            <a:r>
              <a:rPr lang="en-US" sz="1800" b="1" dirty="0">
                <a:solidFill>
                  <a:schemeClr val="bg1"/>
                </a:solidFill>
              </a:rPr>
              <a:t>Scope</a:t>
            </a:r>
            <a:endParaRPr lang="en-US" sz="1800" dirty="0"/>
          </a:p>
        </p:txBody>
      </p:sp>
      <p:sp>
        <p:nvSpPr>
          <p:cNvPr id="9" name="Text 6"/>
          <p:cNvSpPr txBox="1"/>
          <p:nvPr/>
        </p:nvSpPr>
        <p:spPr>
          <a:xfrm>
            <a:off x="777240" y="3794760"/>
            <a:ext cx="1335024" cy="1143000"/>
          </a:xfrm>
          <a:prstGeom prst="rect">
            <a:avLst/>
          </a:prstGeom>
          <a:noFill/>
          <a:ln/>
        </p:spPr>
        <p:txBody>
          <a:bodyPr wrap="square" lIns="0" tIns="0" rIns="0" bIns="0" rtlCol="0" anchor="t"/>
          <a:lstStyle/>
          <a:p>
            <a:pPr indent="0" marL="0">
              <a:buNone/>
            </a:pPr>
            <a:r>
              <a:rPr lang="en-US" sz="1300" dirty="0">
                <a:solidFill>
                  <a:schemeClr val="bg2"/>
                </a:solidFill>
              </a:rPr>
              <a:t>Metric, segment, analysis and comparison windows</a:t>
            </a:r>
            <a:endParaRPr lang="en-US" sz="1300" dirty="0"/>
          </a:p>
        </p:txBody>
      </p:sp>
      <p:sp>
        <p:nvSpPr>
          <p:cNvPr id="10" name="Baseline step"/>
          <p:cNvSpPr/>
          <p:nvPr/>
        </p:nvSpPr>
        <p:spPr>
          <a:xfrm>
            <a:off x="2404872" y="2103120"/>
            <a:ext cx="1700784" cy="2926080"/>
          </a:xfrm>
          <a:prstGeom prst="roundRect">
            <a:avLst>
              <a:gd name="adj" fmla="val 6452"/>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1" name="Baseline badge"/>
          <p:cNvSpPr/>
          <p:nvPr/>
        </p:nvSpPr>
        <p:spPr>
          <a:xfrm>
            <a:off x="2633472" y="2377440"/>
            <a:ext cx="566928" cy="566928"/>
          </a:xfrm>
          <a:prstGeom prst="ellipse">
            <a:avLst/>
          </a:prstGeom>
          <a:solidFill>
            <a:schemeClr val="accent6">
              <a:alpha val="18000"/>
            </a:schemeClr>
          </a:solidFill>
          <a:ln w="12700">
            <a:solidFill>
              <a:schemeClr val="accent6"/>
            </a:solidFill>
            <a:prstDash val="solid"/>
          </a:ln>
        </p:spPr>
      </p:sp>
      <p:pic>
        <p:nvPicPr>
          <p:cNvPr id="12" name="Baseline" descr="preencoded.png">    </p:cNvPr>
          <p:cNvPicPr>
            <a:picLocks noChangeAspect="1"/>
          </p:cNvPicPr>
          <p:nvPr/>
        </p:nvPicPr>
        <p:blipFill>
          <a:blip r:embed="rId2"/>
          <a:stretch>
            <a:fillRect/>
          </a:stretch>
        </p:blipFill>
        <p:spPr>
          <a:xfrm>
            <a:off x="2775204" y="2519172"/>
            <a:ext cx="283464" cy="283464"/>
          </a:xfrm>
          <a:prstGeom prst="rect">
            <a:avLst/>
          </a:prstGeom>
        </p:spPr>
      </p:pic>
      <p:sp>
        <p:nvSpPr>
          <p:cNvPr id="13" name="Text 9"/>
          <p:cNvSpPr txBox="1"/>
          <p:nvPr/>
        </p:nvSpPr>
        <p:spPr>
          <a:xfrm>
            <a:off x="3419856" y="2377440"/>
            <a:ext cx="457200" cy="365760"/>
          </a:xfrm>
          <a:prstGeom prst="rect">
            <a:avLst/>
          </a:prstGeom>
          <a:noFill/>
          <a:ln/>
        </p:spPr>
        <p:txBody>
          <a:bodyPr wrap="square" lIns="0" tIns="0" rIns="0" bIns="0" rtlCol="0" anchor="ctr"/>
          <a:lstStyle/>
          <a:p>
            <a:pPr algn="r" indent="0" marL="0">
              <a:buNone/>
            </a:pPr>
            <a:r>
              <a:rPr lang="en-US" sz="1400" b="1" dirty="0">
                <a:solidFill>
                  <a:schemeClr val="accent6"/>
                </a:solidFill>
              </a:rPr>
              <a:t>02</a:t>
            </a:r>
            <a:endParaRPr lang="en-US" sz="1400" dirty="0"/>
          </a:p>
        </p:txBody>
      </p:sp>
      <p:sp>
        <p:nvSpPr>
          <p:cNvPr id="14" name="Text 10"/>
          <p:cNvSpPr txBox="1"/>
          <p:nvPr/>
        </p:nvSpPr>
        <p:spPr>
          <a:xfrm>
            <a:off x="2633472" y="3127248"/>
            <a:ext cx="1335024" cy="685800"/>
          </a:xfrm>
          <a:prstGeom prst="rect">
            <a:avLst/>
          </a:prstGeom>
          <a:noFill/>
          <a:ln/>
        </p:spPr>
        <p:txBody>
          <a:bodyPr wrap="square" lIns="0" tIns="0" rIns="0" bIns="0" rtlCol="0" anchor="t"/>
          <a:lstStyle/>
          <a:p>
            <a:pPr indent="0" marL="0">
              <a:buNone/>
            </a:pPr>
            <a:r>
              <a:rPr lang="en-US" sz="1800" b="1" dirty="0">
                <a:solidFill>
                  <a:schemeClr val="bg1"/>
                </a:solidFill>
              </a:rPr>
              <a:t>Baseline</a:t>
            </a:r>
            <a:endParaRPr lang="en-US" sz="1800" dirty="0"/>
          </a:p>
        </p:txBody>
      </p:sp>
      <p:sp>
        <p:nvSpPr>
          <p:cNvPr id="15" name="Text 11"/>
          <p:cNvSpPr txBox="1"/>
          <p:nvPr/>
        </p:nvSpPr>
        <p:spPr>
          <a:xfrm>
            <a:off x="2633472" y="3794760"/>
            <a:ext cx="1335024" cy="1143000"/>
          </a:xfrm>
          <a:prstGeom prst="rect">
            <a:avLst/>
          </a:prstGeom>
          <a:noFill/>
          <a:ln/>
        </p:spPr>
        <p:txBody>
          <a:bodyPr wrap="square" lIns="0" tIns="0" rIns="0" bIns="0" rtlCol="0" anchor="t"/>
          <a:lstStyle/>
          <a:p>
            <a:pPr indent="0" marL="0">
              <a:buNone/>
            </a:pPr>
            <a:r>
              <a:rPr lang="en-US" sz="1300" dirty="0">
                <a:solidFill>
                  <a:schemeClr val="bg2"/>
                </a:solidFill>
              </a:rPr>
              <a:t>Weekday seasonal-naive expected value + 90% interval</a:t>
            </a:r>
            <a:endParaRPr lang="en-US" sz="1300" dirty="0"/>
          </a:p>
        </p:txBody>
      </p:sp>
      <p:sp>
        <p:nvSpPr>
          <p:cNvPr id="16" name="Test step"/>
          <p:cNvSpPr/>
          <p:nvPr/>
        </p:nvSpPr>
        <p:spPr>
          <a:xfrm>
            <a:off x="4261104" y="2103120"/>
            <a:ext cx="1700784" cy="2926080"/>
          </a:xfrm>
          <a:prstGeom prst="roundRect">
            <a:avLst>
              <a:gd name="adj" fmla="val 6452"/>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7" name="Test badge"/>
          <p:cNvSpPr/>
          <p:nvPr/>
        </p:nvSpPr>
        <p:spPr>
          <a:xfrm>
            <a:off x="4489704" y="2377440"/>
            <a:ext cx="566928" cy="566928"/>
          </a:xfrm>
          <a:prstGeom prst="ellipse">
            <a:avLst/>
          </a:prstGeom>
          <a:solidFill>
            <a:schemeClr val="accent1">
              <a:alpha val="18000"/>
            </a:schemeClr>
          </a:solidFill>
          <a:ln w="12700">
            <a:solidFill>
              <a:schemeClr val="accent1"/>
            </a:solidFill>
            <a:prstDash val="solid"/>
          </a:ln>
        </p:spPr>
      </p:sp>
      <p:pic>
        <p:nvPicPr>
          <p:cNvPr id="18" name="Test" descr="preencoded.png">    </p:cNvPr>
          <p:cNvPicPr>
            <a:picLocks noChangeAspect="1"/>
          </p:cNvPicPr>
          <p:nvPr/>
        </p:nvPicPr>
        <p:blipFill>
          <a:blip r:embed="rId3"/>
          <a:stretch>
            <a:fillRect/>
          </a:stretch>
        </p:blipFill>
        <p:spPr>
          <a:xfrm>
            <a:off x="4631436" y="2519172"/>
            <a:ext cx="283464" cy="283464"/>
          </a:xfrm>
          <a:prstGeom prst="rect">
            <a:avLst/>
          </a:prstGeom>
        </p:spPr>
      </p:pic>
      <p:sp>
        <p:nvSpPr>
          <p:cNvPr id="19" name="Text 14"/>
          <p:cNvSpPr txBox="1"/>
          <p:nvPr/>
        </p:nvSpPr>
        <p:spPr>
          <a:xfrm>
            <a:off x="5276088" y="2377440"/>
            <a:ext cx="457200" cy="365760"/>
          </a:xfrm>
          <a:prstGeom prst="rect">
            <a:avLst/>
          </a:prstGeom>
          <a:noFill/>
          <a:ln/>
        </p:spPr>
        <p:txBody>
          <a:bodyPr wrap="square" lIns="0" tIns="0" rIns="0" bIns="0" rtlCol="0" anchor="ctr"/>
          <a:lstStyle/>
          <a:p>
            <a:pPr algn="r" indent="0" marL="0">
              <a:buNone/>
            </a:pPr>
            <a:r>
              <a:rPr lang="en-US" sz="1400" b="1" dirty="0">
                <a:solidFill>
                  <a:schemeClr val="accent1"/>
                </a:solidFill>
              </a:rPr>
              <a:t>03</a:t>
            </a:r>
            <a:endParaRPr lang="en-US" sz="1400" dirty="0"/>
          </a:p>
        </p:txBody>
      </p:sp>
      <p:sp>
        <p:nvSpPr>
          <p:cNvPr id="20" name="Text 15"/>
          <p:cNvSpPr txBox="1"/>
          <p:nvPr/>
        </p:nvSpPr>
        <p:spPr>
          <a:xfrm>
            <a:off x="4489704" y="3127248"/>
            <a:ext cx="1335024" cy="685800"/>
          </a:xfrm>
          <a:prstGeom prst="rect">
            <a:avLst/>
          </a:prstGeom>
          <a:noFill/>
          <a:ln/>
        </p:spPr>
        <p:txBody>
          <a:bodyPr wrap="square" lIns="0" tIns="0" rIns="0" bIns="0" rtlCol="0" anchor="t"/>
          <a:lstStyle/>
          <a:p>
            <a:pPr indent="0" marL="0">
              <a:buNone/>
            </a:pPr>
            <a:r>
              <a:rPr lang="en-US" sz="1800" b="1" dirty="0">
                <a:solidFill>
                  <a:schemeClr val="bg1"/>
                </a:solidFill>
              </a:rPr>
              <a:t>Test</a:t>
            </a:r>
            <a:endParaRPr lang="en-US" sz="1800" dirty="0"/>
          </a:p>
        </p:txBody>
      </p:sp>
      <p:sp>
        <p:nvSpPr>
          <p:cNvPr id="21" name="Text 16"/>
          <p:cNvSpPr txBox="1"/>
          <p:nvPr/>
        </p:nvSpPr>
        <p:spPr>
          <a:xfrm>
            <a:off x="4489704" y="3794760"/>
            <a:ext cx="1335024" cy="1143000"/>
          </a:xfrm>
          <a:prstGeom prst="rect">
            <a:avLst/>
          </a:prstGeom>
          <a:noFill/>
          <a:ln/>
        </p:spPr>
        <p:txBody>
          <a:bodyPr wrap="square" lIns="0" tIns="0" rIns="0" bIns="0" rtlCol="0" anchor="t"/>
          <a:lstStyle/>
          <a:p>
            <a:pPr indent="0" marL="0">
              <a:buNone/>
            </a:pPr>
            <a:r>
              <a:rPr lang="en-US" sz="1300" dirty="0">
                <a:solidFill>
                  <a:schemeClr val="bg2"/>
                </a:solidFill>
              </a:rPr>
              <a:t>Competing hypotheses: supported, weak or refuted</a:t>
            </a:r>
            <a:endParaRPr lang="en-US" sz="1300" dirty="0"/>
          </a:p>
        </p:txBody>
      </p:sp>
      <p:sp>
        <p:nvSpPr>
          <p:cNvPr id="22" name="Attribute step"/>
          <p:cNvSpPr/>
          <p:nvPr/>
        </p:nvSpPr>
        <p:spPr>
          <a:xfrm>
            <a:off x="6117336" y="2103120"/>
            <a:ext cx="1700784" cy="2926080"/>
          </a:xfrm>
          <a:prstGeom prst="roundRect">
            <a:avLst>
              <a:gd name="adj" fmla="val 6452"/>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23" name="Attribute badge"/>
          <p:cNvSpPr/>
          <p:nvPr/>
        </p:nvSpPr>
        <p:spPr>
          <a:xfrm>
            <a:off x="6345936" y="2377440"/>
            <a:ext cx="566928" cy="566928"/>
          </a:xfrm>
          <a:prstGeom prst="ellipse">
            <a:avLst/>
          </a:prstGeom>
          <a:solidFill>
            <a:schemeClr val="accent4">
              <a:alpha val="18000"/>
            </a:schemeClr>
          </a:solidFill>
          <a:ln w="12700">
            <a:solidFill>
              <a:schemeClr val="accent4"/>
            </a:solidFill>
            <a:prstDash val="solid"/>
          </a:ln>
        </p:spPr>
      </p:sp>
      <p:pic>
        <p:nvPicPr>
          <p:cNvPr id="24" name="Attribute" descr="preencoded.png">    </p:cNvPr>
          <p:cNvPicPr>
            <a:picLocks noChangeAspect="1"/>
          </p:cNvPicPr>
          <p:nvPr/>
        </p:nvPicPr>
        <p:blipFill>
          <a:blip r:embed="rId4"/>
          <a:stretch>
            <a:fillRect/>
          </a:stretch>
        </p:blipFill>
        <p:spPr>
          <a:xfrm>
            <a:off x="6487668" y="2519172"/>
            <a:ext cx="283464" cy="283464"/>
          </a:xfrm>
          <a:prstGeom prst="rect">
            <a:avLst/>
          </a:prstGeom>
        </p:spPr>
      </p:pic>
      <p:sp>
        <p:nvSpPr>
          <p:cNvPr id="25" name="Text 19"/>
          <p:cNvSpPr txBox="1"/>
          <p:nvPr/>
        </p:nvSpPr>
        <p:spPr>
          <a:xfrm>
            <a:off x="7132320" y="2377440"/>
            <a:ext cx="457200" cy="365760"/>
          </a:xfrm>
          <a:prstGeom prst="rect">
            <a:avLst/>
          </a:prstGeom>
          <a:noFill/>
          <a:ln/>
        </p:spPr>
        <p:txBody>
          <a:bodyPr wrap="square" lIns="0" tIns="0" rIns="0" bIns="0" rtlCol="0" anchor="ctr"/>
          <a:lstStyle/>
          <a:p>
            <a:pPr algn="r" indent="0" marL="0">
              <a:buNone/>
            </a:pPr>
            <a:r>
              <a:rPr lang="en-US" sz="1400" b="1" dirty="0">
                <a:solidFill>
                  <a:schemeClr val="accent4"/>
                </a:solidFill>
              </a:rPr>
              <a:t>04</a:t>
            </a:r>
            <a:endParaRPr lang="en-US" sz="1400" dirty="0"/>
          </a:p>
        </p:txBody>
      </p:sp>
      <p:sp>
        <p:nvSpPr>
          <p:cNvPr id="26" name="Text 20"/>
          <p:cNvSpPr txBox="1"/>
          <p:nvPr/>
        </p:nvSpPr>
        <p:spPr>
          <a:xfrm>
            <a:off x="6345936" y="3127248"/>
            <a:ext cx="1335024" cy="685800"/>
          </a:xfrm>
          <a:prstGeom prst="rect">
            <a:avLst/>
          </a:prstGeom>
          <a:noFill/>
          <a:ln/>
        </p:spPr>
        <p:txBody>
          <a:bodyPr wrap="square" lIns="0" tIns="0" rIns="0" bIns="0" rtlCol="0" anchor="t"/>
          <a:lstStyle/>
          <a:p>
            <a:pPr indent="0" marL="0">
              <a:buNone/>
            </a:pPr>
            <a:r>
              <a:rPr lang="en-US" sz="1800" b="1" dirty="0">
                <a:solidFill>
                  <a:schemeClr val="bg1"/>
                </a:solidFill>
              </a:rPr>
              <a:t>Attribute</a:t>
            </a:r>
            <a:endParaRPr lang="en-US" sz="1800" dirty="0"/>
          </a:p>
        </p:txBody>
      </p:sp>
      <p:sp>
        <p:nvSpPr>
          <p:cNvPr id="27" name="Text 21"/>
          <p:cNvSpPr txBox="1"/>
          <p:nvPr/>
        </p:nvSpPr>
        <p:spPr>
          <a:xfrm>
            <a:off x="6345936" y="3794760"/>
            <a:ext cx="1335024" cy="1143000"/>
          </a:xfrm>
          <a:prstGeom prst="rect">
            <a:avLst/>
          </a:prstGeom>
          <a:noFill/>
          <a:ln/>
        </p:spPr>
        <p:txBody>
          <a:bodyPr wrap="square" lIns="0" tIns="0" rIns="0" bIns="0" rtlCol="0" anchor="t"/>
          <a:lstStyle/>
          <a:p>
            <a:pPr indent="0" marL="0">
              <a:buNone/>
            </a:pPr>
            <a:r>
              <a:rPr lang="en-US" sz="1300" dirty="0">
                <a:solidFill>
                  <a:schemeClr val="bg2"/>
                </a:solidFill>
              </a:rPr>
              <a:t>Regression over drivers + explicit unexplained remainder</a:t>
            </a:r>
            <a:endParaRPr lang="en-US" sz="1300" dirty="0"/>
          </a:p>
        </p:txBody>
      </p:sp>
      <p:sp>
        <p:nvSpPr>
          <p:cNvPr id="28" name="Narrate &amp; verify step"/>
          <p:cNvSpPr/>
          <p:nvPr/>
        </p:nvSpPr>
        <p:spPr>
          <a:xfrm>
            <a:off x="7973568" y="2103120"/>
            <a:ext cx="1700784" cy="2926080"/>
          </a:xfrm>
          <a:prstGeom prst="roundRect">
            <a:avLst>
              <a:gd name="adj" fmla="val 6452"/>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29" name="Narrate &amp; verify badge"/>
          <p:cNvSpPr/>
          <p:nvPr/>
        </p:nvSpPr>
        <p:spPr>
          <a:xfrm>
            <a:off x="8202168" y="2377440"/>
            <a:ext cx="566928" cy="566928"/>
          </a:xfrm>
          <a:prstGeom prst="ellipse">
            <a:avLst/>
          </a:prstGeom>
          <a:solidFill>
            <a:schemeClr val="accent3">
              <a:alpha val="18000"/>
            </a:schemeClr>
          </a:solidFill>
          <a:ln w="12700">
            <a:solidFill>
              <a:schemeClr val="accent3"/>
            </a:solidFill>
            <a:prstDash val="solid"/>
          </a:ln>
        </p:spPr>
      </p:sp>
      <p:pic>
        <p:nvPicPr>
          <p:cNvPr id="30" name="Narrate &amp; verify" descr="preencoded.png">    </p:cNvPr>
          <p:cNvPicPr>
            <a:picLocks noChangeAspect="1"/>
          </p:cNvPicPr>
          <p:nvPr/>
        </p:nvPicPr>
        <p:blipFill>
          <a:blip r:embed="rId5"/>
          <a:stretch>
            <a:fillRect/>
          </a:stretch>
        </p:blipFill>
        <p:spPr>
          <a:xfrm>
            <a:off x="8343900" y="2519172"/>
            <a:ext cx="283464" cy="283464"/>
          </a:xfrm>
          <a:prstGeom prst="rect">
            <a:avLst/>
          </a:prstGeom>
        </p:spPr>
      </p:pic>
      <p:sp>
        <p:nvSpPr>
          <p:cNvPr id="31" name="Text 24"/>
          <p:cNvSpPr txBox="1"/>
          <p:nvPr/>
        </p:nvSpPr>
        <p:spPr>
          <a:xfrm>
            <a:off x="8988552" y="2377440"/>
            <a:ext cx="457200" cy="365760"/>
          </a:xfrm>
          <a:prstGeom prst="rect">
            <a:avLst/>
          </a:prstGeom>
          <a:noFill/>
          <a:ln/>
        </p:spPr>
        <p:txBody>
          <a:bodyPr wrap="square" lIns="0" tIns="0" rIns="0" bIns="0" rtlCol="0" anchor="ctr"/>
          <a:lstStyle/>
          <a:p>
            <a:pPr algn="r" indent="0" marL="0">
              <a:buNone/>
            </a:pPr>
            <a:r>
              <a:rPr lang="en-US" sz="1400" b="1" dirty="0">
                <a:solidFill>
                  <a:schemeClr val="accent3"/>
                </a:solidFill>
              </a:rPr>
              <a:t>05</a:t>
            </a:r>
            <a:endParaRPr lang="en-US" sz="1400" dirty="0"/>
          </a:p>
        </p:txBody>
      </p:sp>
      <p:sp>
        <p:nvSpPr>
          <p:cNvPr id="32" name="Text 25"/>
          <p:cNvSpPr txBox="1"/>
          <p:nvPr/>
        </p:nvSpPr>
        <p:spPr>
          <a:xfrm>
            <a:off x="8202168" y="3127248"/>
            <a:ext cx="1335024" cy="685800"/>
          </a:xfrm>
          <a:prstGeom prst="rect">
            <a:avLst/>
          </a:prstGeom>
          <a:noFill/>
          <a:ln/>
        </p:spPr>
        <p:txBody>
          <a:bodyPr wrap="square" lIns="0" tIns="0" rIns="0" bIns="0" rtlCol="0" anchor="t"/>
          <a:lstStyle/>
          <a:p>
            <a:pPr indent="0" marL="0">
              <a:buNone/>
            </a:pPr>
            <a:r>
              <a:rPr lang="en-US" sz="1800" b="1" dirty="0">
                <a:solidFill>
                  <a:schemeClr val="bg1"/>
                </a:solidFill>
              </a:rPr>
              <a:t>Narrate &amp; verify</a:t>
            </a:r>
            <a:endParaRPr lang="en-US" sz="1800" dirty="0"/>
          </a:p>
        </p:txBody>
      </p:sp>
      <p:sp>
        <p:nvSpPr>
          <p:cNvPr id="33" name="Text 26"/>
          <p:cNvSpPr txBox="1"/>
          <p:nvPr/>
        </p:nvSpPr>
        <p:spPr>
          <a:xfrm>
            <a:off x="8202168" y="3794760"/>
            <a:ext cx="1335024" cy="1143000"/>
          </a:xfrm>
          <a:prstGeom prst="rect">
            <a:avLst/>
          </a:prstGeom>
          <a:noFill/>
          <a:ln/>
        </p:spPr>
        <p:txBody>
          <a:bodyPr wrap="square" lIns="0" tIns="0" rIns="0" bIns="0" rtlCol="0" anchor="t"/>
          <a:lstStyle/>
          <a:p>
            <a:pPr indent="0" marL="0">
              <a:buNone/>
            </a:pPr>
            <a:r>
              <a:rPr lang="en-US" sz="1300" dirty="0">
                <a:solidFill>
                  <a:schemeClr val="bg2"/>
                </a:solidFill>
              </a:rPr>
              <a:t>Nemotron writes; every number checked against the ledger</a:t>
            </a:r>
            <a:endParaRPr lang="en-US" sz="1300" dirty="0"/>
          </a:p>
        </p:txBody>
      </p:sp>
      <p:sp>
        <p:nvSpPr>
          <p:cNvPr id="34" name="Remember step"/>
          <p:cNvSpPr/>
          <p:nvPr/>
        </p:nvSpPr>
        <p:spPr>
          <a:xfrm>
            <a:off x="9829800" y="2103120"/>
            <a:ext cx="1700784" cy="2926080"/>
          </a:xfrm>
          <a:prstGeom prst="roundRect">
            <a:avLst>
              <a:gd name="adj" fmla="val 6452"/>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35" name="Remember badge"/>
          <p:cNvSpPr/>
          <p:nvPr/>
        </p:nvSpPr>
        <p:spPr>
          <a:xfrm>
            <a:off x="10058400" y="2377440"/>
            <a:ext cx="566928" cy="566928"/>
          </a:xfrm>
          <a:prstGeom prst="ellipse">
            <a:avLst/>
          </a:prstGeom>
          <a:solidFill>
            <a:schemeClr val="accent5">
              <a:alpha val="18000"/>
            </a:schemeClr>
          </a:solidFill>
          <a:ln w="12700">
            <a:solidFill>
              <a:schemeClr val="accent5"/>
            </a:solidFill>
            <a:prstDash val="solid"/>
          </a:ln>
        </p:spPr>
      </p:sp>
      <p:pic>
        <p:nvPicPr>
          <p:cNvPr id="36" name="Remember" descr="preencoded.png">    </p:cNvPr>
          <p:cNvPicPr>
            <a:picLocks noChangeAspect="1"/>
          </p:cNvPicPr>
          <p:nvPr/>
        </p:nvPicPr>
        <p:blipFill>
          <a:blip r:embed="rId6"/>
          <a:stretch>
            <a:fillRect/>
          </a:stretch>
        </p:blipFill>
        <p:spPr>
          <a:xfrm>
            <a:off x="10200132" y="2519172"/>
            <a:ext cx="283464" cy="283464"/>
          </a:xfrm>
          <a:prstGeom prst="rect">
            <a:avLst/>
          </a:prstGeom>
        </p:spPr>
      </p:pic>
      <p:sp>
        <p:nvSpPr>
          <p:cNvPr id="37" name="Text 29"/>
          <p:cNvSpPr txBox="1"/>
          <p:nvPr/>
        </p:nvSpPr>
        <p:spPr>
          <a:xfrm>
            <a:off x="10844784" y="2377440"/>
            <a:ext cx="457200" cy="365760"/>
          </a:xfrm>
          <a:prstGeom prst="rect">
            <a:avLst/>
          </a:prstGeom>
          <a:noFill/>
          <a:ln/>
        </p:spPr>
        <p:txBody>
          <a:bodyPr wrap="square" lIns="0" tIns="0" rIns="0" bIns="0" rtlCol="0" anchor="ctr"/>
          <a:lstStyle/>
          <a:p>
            <a:pPr algn="r" indent="0" marL="0">
              <a:buNone/>
            </a:pPr>
            <a:r>
              <a:rPr lang="en-US" sz="1400" b="1" dirty="0">
                <a:solidFill>
                  <a:schemeClr val="accent5"/>
                </a:solidFill>
              </a:rPr>
              <a:t>06</a:t>
            </a:r>
            <a:endParaRPr lang="en-US" sz="1400" dirty="0"/>
          </a:p>
        </p:txBody>
      </p:sp>
      <p:sp>
        <p:nvSpPr>
          <p:cNvPr id="38" name="Text 30"/>
          <p:cNvSpPr txBox="1"/>
          <p:nvPr/>
        </p:nvSpPr>
        <p:spPr>
          <a:xfrm>
            <a:off x="10058400" y="3127248"/>
            <a:ext cx="1335024" cy="685800"/>
          </a:xfrm>
          <a:prstGeom prst="rect">
            <a:avLst/>
          </a:prstGeom>
          <a:noFill/>
          <a:ln/>
        </p:spPr>
        <p:txBody>
          <a:bodyPr wrap="square" lIns="0" tIns="0" rIns="0" bIns="0" rtlCol="0" anchor="t"/>
          <a:lstStyle/>
          <a:p>
            <a:pPr indent="0" marL="0">
              <a:buNone/>
            </a:pPr>
            <a:r>
              <a:rPr lang="en-US" sz="1800" b="1" dirty="0">
                <a:solidFill>
                  <a:schemeClr val="bg1"/>
                </a:solidFill>
              </a:rPr>
              <a:t>Remember</a:t>
            </a:r>
            <a:endParaRPr lang="en-US" sz="1800" dirty="0"/>
          </a:p>
        </p:txBody>
      </p:sp>
      <p:sp>
        <p:nvSpPr>
          <p:cNvPr id="39" name="Text 31"/>
          <p:cNvSpPr txBox="1"/>
          <p:nvPr/>
        </p:nvSpPr>
        <p:spPr>
          <a:xfrm>
            <a:off x="10058400" y="3794760"/>
            <a:ext cx="1335024" cy="1143000"/>
          </a:xfrm>
          <a:prstGeom prst="rect">
            <a:avLst/>
          </a:prstGeom>
          <a:noFill/>
          <a:ln/>
        </p:spPr>
        <p:txBody>
          <a:bodyPr wrap="square" lIns="0" tIns="0" rIns="0" bIns="0" rtlCol="0" anchor="t"/>
          <a:lstStyle/>
          <a:p>
            <a:pPr indent="0" marL="0">
              <a:buNone/>
            </a:pPr>
            <a:r>
              <a:rPr lang="en-US" sz="1300" dirty="0">
                <a:solidFill>
                  <a:schemeClr val="bg2"/>
                </a:solidFill>
              </a:rPr>
              <a:t>H-MEM keeps durable facts for the next investigation</a:t>
            </a:r>
            <a:endParaRPr lang="en-US" sz="1300" dirty="0"/>
          </a:p>
        </p:txBody>
      </p:sp>
      <p:sp>
        <p:nvSpPr>
          <p:cNvPr id="40" name="Text 32"/>
          <p:cNvSpPr txBox="1"/>
          <p:nvPr/>
        </p:nvSpPr>
        <p:spPr>
          <a:xfrm>
            <a:off x="548640" y="5349240"/>
            <a:ext cx="11094415" cy="640080"/>
          </a:xfrm>
          <a:prstGeom prst="rect">
            <a:avLst/>
          </a:prstGeom>
          <a:noFill/>
          <a:ln/>
        </p:spPr>
        <p:txBody>
          <a:bodyPr wrap="square" lIns="0" tIns="0" rIns="0" bIns="0" rtlCol="0" anchor="ctr"/>
          <a:lstStyle/>
          <a:p>
            <a:pPr indent="0" marL="0">
              <a:buNone/>
            </a:pPr>
            <a:r>
              <a:rPr lang="en-US" sz="1600" b="1" dirty="0">
                <a:solidFill>
                  <a:schemeClr val="accent3"/>
                </a:solidFill>
              </a:rPr>
              <a:t>The model never calculates. </a:t>
            </a:r>
            <a:pPr indent="0" marL="0">
              <a:buNone/>
            </a:pPr>
            <a:r>
              <a:rPr lang="en-US" sz="1600" dirty="0">
                <a:solidFill>
                  <a:schemeClr val="bg1"/>
                </a:solidFill>
              </a:rPr>
              <a:t>Every figure is computed in code from your rows; the language model only writes prose about numbers it is given.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LIVE INVESTIGATION</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You watch it reason, hypothesis by hypothesis</a:t>
            </a:r>
            <a:endParaRPr lang="en-US" sz="3600" dirty="0"/>
          </a:p>
        </p:txBody>
      </p:sp>
      <p:sp>
        <p:nvSpPr>
          <p:cNvPr id="4" name="Live investigation screen frame"/>
          <p:cNvSpPr/>
          <p:nvPr/>
        </p:nvSpPr>
        <p:spPr>
          <a:xfrm>
            <a:off x="493776" y="1728216"/>
            <a:ext cx="7059168" cy="4453128"/>
          </a:xfrm>
          <a:prstGeom prst="roundRect">
            <a:avLst>
              <a:gd name="adj" fmla="val 2053"/>
            </a:avLst>
          </a:prstGeom>
          <a:solidFill>
            <a:schemeClr val="tx2"/>
          </a:solidFill>
          <a:ln w="12700">
            <a:solidFill>
              <a:schemeClr val="accent1">
                <a:alpha val="45000"/>
              </a:schemeClr>
            </a:solidFill>
            <a:prstDash val="solid"/>
          </a:ln>
          <a:effectLst>
            <a:outerShdw sx="100000" sy="100000" kx="0" ky="0" algn="bl" rotWithShape="0" blurRad="381000" dist="127000" dir="5400000">
              <a:srgbClr val="000000">
                <a:alpha val="60000"/>
              </a:srgbClr>
            </a:outerShdw>
          </a:effectLst>
        </p:spPr>
      </p:sp>
      <p:pic>
        <p:nvPicPr>
          <p:cNvPr id="5" name="Live investigation screen" descr="Live investigation screen">    </p:cNvPr>
          <p:cNvPicPr>
            <a:picLocks noChangeAspect="1"/>
          </p:cNvPicPr>
          <p:nvPr/>
        </p:nvPicPr>
        <p:blipFill>
          <a:blip r:embed="rId1"/>
          <a:stretch>
            <a:fillRect/>
          </a:stretch>
        </p:blipFill>
        <p:spPr>
          <a:xfrm>
            <a:off x="548640" y="1783080"/>
            <a:ext cx="6949440" cy="4343400"/>
          </a:xfrm>
          <a:prstGeom prst="rect">
            <a:avLst/>
          </a:prstGeom>
        </p:spPr>
      </p:pic>
      <p:sp>
        <p:nvSpPr>
          <p:cNvPr id="6" name="Text 3"/>
          <p:cNvSpPr txBox="1"/>
          <p:nvPr/>
        </p:nvSpPr>
        <p:spPr>
          <a:xfrm>
            <a:off x="8001000" y="1783080"/>
            <a:ext cx="1417320" cy="868680"/>
          </a:xfrm>
          <a:prstGeom prst="rect">
            <a:avLst/>
          </a:prstGeom>
          <a:noFill/>
          <a:ln/>
        </p:spPr>
        <p:txBody>
          <a:bodyPr wrap="square" lIns="0" tIns="0" rIns="0" bIns="0" rtlCol="0" anchor="ctr"/>
          <a:lstStyle/>
          <a:p>
            <a:pPr indent="0" marL="0">
              <a:buNone/>
            </a:pPr>
            <a:r>
              <a:rPr lang="en-US" sz="4800" b="1" dirty="0">
                <a:solidFill>
                  <a:schemeClr val="bg1"/>
                </a:solidFill>
              </a:rPr>
              <a:t>5</a:t>
            </a:r>
            <a:endParaRPr lang="en-US" sz="4800" dirty="0"/>
          </a:p>
        </p:txBody>
      </p:sp>
      <p:sp>
        <p:nvSpPr>
          <p:cNvPr id="7" name="Text 4"/>
          <p:cNvSpPr txBox="1"/>
          <p:nvPr/>
        </p:nvSpPr>
        <p:spPr>
          <a:xfrm>
            <a:off x="9189720" y="1783080"/>
            <a:ext cx="2468880" cy="868680"/>
          </a:xfrm>
          <a:prstGeom prst="rect">
            <a:avLst/>
          </a:prstGeom>
          <a:noFill/>
          <a:ln/>
        </p:spPr>
        <p:txBody>
          <a:bodyPr wrap="square" lIns="0" tIns="0" rIns="0" bIns="0" rtlCol="0" anchor="ctr"/>
          <a:lstStyle/>
          <a:p>
            <a:pPr indent="0" marL="0">
              <a:buNone/>
            </a:pPr>
            <a:r>
              <a:rPr lang="en-US" sz="1600" dirty="0">
                <a:solidFill>
                  <a:schemeClr val="bg2"/>
                </a:solidFill>
              </a:rPr>
              <a:t>hypotheses tested</a:t>
            </a:r>
            <a:endParaRPr lang="en-US" sz="1600" dirty="0"/>
          </a:p>
        </p:txBody>
      </p:sp>
      <p:sp>
        <p:nvSpPr>
          <p:cNvPr id="8" name="Text 5"/>
          <p:cNvSpPr txBox="1"/>
          <p:nvPr/>
        </p:nvSpPr>
        <p:spPr>
          <a:xfrm>
            <a:off x="8001000" y="2852928"/>
            <a:ext cx="1417320" cy="868680"/>
          </a:xfrm>
          <a:prstGeom prst="rect">
            <a:avLst/>
          </a:prstGeom>
          <a:noFill/>
          <a:ln/>
        </p:spPr>
        <p:txBody>
          <a:bodyPr wrap="square" lIns="0" tIns="0" rIns="0" bIns="0" rtlCol="0" anchor="ctr"/>
          <a:lstStyle/>
          <a:p>
            <a:pPr indent="0" marL="0">
              <a:buNone/>
            </a:pPr>
            <a:r>
              <a:rPr lang="en-US" sz="4800" b="1" dirty="0">
                <a:solidFill>
                  <a:schemeClr val="accent3"/>
                </a:solidFill>
              </a:rPr>
              <a:t>3</a:t>
            </a:r>
            <a:endParaRPr lang="en-US" sz="4800" dirty="0"/>
          </a:p>
        </p:txBody>
      </p:sp>
      <p:sp>
        <p:nvSpPr>
          <p:cNvPr id="9" name="Text 6"/>
          <p:cNvSpPr txBox="1"/>
          <p:nvPr/>
        </p:nvSpPr>
        <p:spPr>
          <a:xfrm>
            <a:off x="9189720" y="2852928"/>
            <a:ext cx="2468880" cy="868680"/>
          </a:xfrm>
          <a:prstGeom prst="rect">
            <a:avLst/>
          </a:prstGeom>
          <a:noFill/>
          <a:ln/>
        </p:spPr>
        <p:txBody>
          <a:bodyPr wrap="square" lIns="0" tIns="0" rIns="0" bIns="0" rtlCol="0" anchor="ctr"/>
          <a:lstStyle/>
          <a:p>
            <a:pPr indent="0" marL="0">
              <a:buNone/>
            </a:pPr>
            <a:r>
              <a:rPr lang="en-US" sz="1600" dirty="0">
                <a:solidFill>
                  <a:schemeClr val="bg2"/>
                </a:solidFill>
              </a:rPr>
              <a:t>supported by the data</a:t>
            </a:r>
            <a:endParaRPr lang="en-US" sz="1600" dirty="0"/>
          </a:p>
        </p:txBody>
      </p:sp>
      <p:sp>
        <p:nvSpPr>
          <p:cNvPr id="10" name="Text 7"/>
          <p:cNvSpPr txBox="1"/>
          <p:nvPr/>
        </p:nvSpPr>
        <p:spPr>
          <a:xfrm>
            <a:off x="8001000" y="3922776"/>
            <a:ext cx="1417320" cy="868680"/>
          </a:xfrm>
          <a:prstGeom prst="rect">
            <a:avLst/>
          </a:prstGeom>
          <a:noFill/>
          <a:ln/>
        </p:spPr>
        <p:txBody>
          <a:bodyPr wrap="square" lIns="0" tIns="0" rIns="0" bIns="0" rtlCol="0" anchor="ctr"/>
          <a:lstStyle/>
          <a:p>
            <a:pPr indent="0" marL="0">
              <a:buNone/>
            </a:pPr>
            <a:r>
              <a:rPr lang="en-US" sz="4800" b="1" dirty="0">
                <a:solidFill>
                  <a:schemeClr val="accent5"/>
                </a:solidFill>
              </a:rPr>
              <a:t>1</a:t>
            </a:r>
            <a:endParaRPr lang="en-US" sz="4800" dirty="0"/>
          </a:p>
        </p:txBody>
      </p:sp>
      <p:sp>
        <p:nvSpPr>
          <p:cNvPr id="11" name="Text 8"/>
          <p:cNvSpPr txBox="1"/>
          <p:nvPr/>
        </p:nvSpPr>
        <p:spPr>
          <a:xfrm>
            <a:off x="9189720" y="3922776"/>
            <a:ext cx="2468880" cy="868680"/>
          </a:xfrm>
          <a:prstGeom prst="rect">
            <a:avLst/>
          </a:prstGeom>
          <a:noFill/>
          <a:ln/>
        </p:spPr>
        <p:txBody>
          <a:bodyPr wrap="square" lIns="0" tIns="0" rIns="0" bIns="0" rtlCol="0" anchor="ctr"/>
          <a:lstStyle/>
          <a:p>
            <a:pPr indent="0" marL="0">
              <a:buNone/>
            </a:pPr>
            <a:r>
              <a:rPr lang="en-US" sz="1600" dirty="0">
                <a:solidFill>
                  <a:schemeClr val="bg2"/>
                </a:solidFill>
              </a:rPr>
              <a:t>refuted — and shown</a:t>
            </a:r>
            <a:endParaRPr lang="en-US" sz="1600" dirty="0"/>
          </a:p>
        </p:txBody>
      </p:sp>
      <p:sp>
        <p:nvSpPr>
          <p:cNvPr id="12" name="Text 9"/>
          <p:cNvSpPr txBox="1"/>
          <p:nvPr/>
        </p:nvSpPr>
        <p:spPr>
          <a:xfrm>
            <a:off x="8001000" y="4992624"/>
            <a:ext cx="1417320" cy="868680"/>
          </a:xfrm>
          <a:prstGeom prst="rect">
            <a:avLst/>
          </a:prstGeom>
          <a:noFill/>
          <a:ln/>
        </p:spPr>
        <p:txBody>
          <a:bodyPr wrap="square" lIns="0" tIns="0" rIns="0" bIns="0" rtlCol="0" anchor="ctr"/>
          <a:lstStyle/>
          <a:p>
            <a:pPr indent="0" marL="0">
              <a:buNone/>
            </a:pPr>
            <a:r>
              <a:rPr lang="en-US" sz="4800" b="1" dirty="0">
                <a:solidFill>
                  <a:schemeClr val="accent2"/>
                </a:solidFill>
              </a:rPr>
              <a:t>19s</a:t>
            </a:r>
            <a:endParaRPr lang="en-US" sz="4800" dirty="0"/>
          </a:p>
        </p:txBody>
      </p:sp>
      <p:sp>
        <p:nvSpPr>
          <p:cNvPr id="13" name="Text 10"/>
          <p:cNvSpPr txBox="1"/>
          <p:nvPr/>
        </p:nvSpPr>
        <p:spPr>
          <a:xfrm>
            <a:off x="9189720" y="4992624"/>
            <a:ext cx="2468880" cy="868680"/>
          </a:xfrm>
          <a:prstGeom prst="rect">
            <a:avLst/>
          </a:prstGeom>
          <a:noFill/>
          <a:ln/>
        </p:spPr>
        <p:txBody>
          <a:bodyPr wrap="square" lIns="0" tIns="0" rIns="0" bIns="0" rtlCol="0" anchor="ctr"/>
          <a:lstStyle/>
          <a:p>
            <a:pPr indent="0" marL="0">
              <a:buNone/>
            </a:pPr>
            <a:r>
              <a:rPr lang="en-US" sz="1600" dirty="0">
                <a:solidFill>
                  <a:schemeClr val="bg2"/>
                </a:solidFill>
              </a:rPr>
              <a:t>question to verdict</a:t>
            </a:r>
            <a:endParaRPr lang="en-US" sz="1600" dirty="0"/>
          </a:p>
        </p:txBody>
      </p:sp>
      <p:sp>
        <p:nvSpPr>
          <p:cNvPr id="14" name="Text 11"/>
          <p:cNvSpPr txBox="1"/>
          <p:nvPr/>
        </p:nvSpPr>
        <p:spPr>
          <a:xfrm>
            <a:off x="8001000" y="5943600"/>
            <a:ext cx="3657600" cy="274320"/>
          </a:xfrm>
          <a:prstGeom prst="rect">
            <a:avLst/>
          </a:prstGeom>
          <a:noFill/>
          <a:ln/>
        </p:spPr>
        <p:txBody>
          <a:bodyPr wrap="square" lIns="0" tIns="0" rIns="0" bIns="0" rtlCol="0" anchor="ctr"/>
          <a:lstStyle/>
          <a:p>
            <a:pPr indent="0" marL="0">
              <a:buNone/>
            </a:pPr>
            <a:r>
              <a:rPr lang="en-US" sz="1000" i="1" dirty="0">
                <a:solidFill>
                  <a:schemeClr val="bg2"/>
                </a:solidFill>
              </a:rPr>
              <a:t>Real run on a sample retail dataset, live app.</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THE VERDICT</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Where the $333K gap actually came from</a:t>
            </a:r>
            <a:endParaRPr lang="en-US" sz="3600" dirty="0"/>
          </a:p>
        </p:txBody>
      </p:sp>
      <p:sp>
        <p:nvSpPr>
          <p:cNvPr id="4" name="waterfall panel"/>
          <p:cNvSpPr/>
          <p:nvPr/>
        </p:nvSpPr>
        <p:spPr>
          <a:xfrm>
            <a:off x="548640" y="1828800"/>
            <a:ext cx="6949440" cy="4297680"/>
          </a:xfrm>
          <a:prstGeom prst="roundRect">
            <a:avLst>
              <a:gd name="adj" fmla="val 2553"/>
            </a:avLst>
          </a:prstGeom>
          <a:solidFill>
            <a:schemeClr val="tx2"/>
          </a:solidFill>
          <a:ln w="9525">
            <a:solidFill>
              <a:schemeClr val="tx2"/>
            </a:solidFill>
            <a:prstDash val="solid"/>
          </a:ln>
        </p:spPr>
      </p:sp>
      <p:sp>
        <p:nvSpPr>
          <p:cNvPr id="5" name="Expected bar"/>
          <p:cNvSpPr/>
          <p:nvPr/>
        </p:nvSpPr>
        <p:spPr>
          <a:xfrm>
            <a:off x="981456" y="2540752"/>
            <a:ext cx="749808" cy="2808488"/>
          </a:xfrm>
          <a:prstGeom prst="rect">
            <a:avLst/>
          </a:prstGeom>
          <a:solidFill>
            <a:schemeClr val="bg2">
              <a:alpha val="60000"/>
            </a:schemeClr>
          </a:solidFill>
          <a:ln w="12700">
            <a:solidFill>
              <a:schemeClr val="bg2"/>
            </a:solidFill>
            <a:prstDash val="solid"/>
          </a:ln>
        </p:spPr>
      </p:sp>
      <p:sp>
        <p:nvSpPr>
          <p:cNvPr id="6" name="Text 4"/>
          <p:cNvSpPr txBox="1"/>
          <p:nvPr/>
        </p:nvSpPr>
        <p:spPr>
          <a:xfrm>
            <a:off x="661416" y="2193280"/>
            <a:ext cx="1389888" cy="292608"/>
          </a:xfrm>
          <a:prstGeom prst="rect">
            <a:avLst/>
          </a:prstGeom>
          <a:noFill/>
          <a:ln/>
        </p:spPr>
        <p:txBody>
          <a:bodyPr wrap="square" lIns="0" tIns="0" rIns="0" bIns="0" rtlCol="0" anchor="ctr"/>
          <a:lstStyle/>
          <a:p>
            <a:pPr algn="ctr" indent="0" marL="0">
              <a:buNone/>
            </a:pPr>
            <a:r>
              <a:rPr lang="en-US" sz="1200" b="1" dirty="0">
                <a:solidFill>
                  <a:schemeClr val="bg1"/>
                </a:solidFill>
              </a:rPr>
              <a:t>$1.41M</a:t>
            </a:r>
            <a:endParaRPr lang="en-US" sz="1200" dirty="0"/>
          </a:p>
        </p:txBody>
      </p:sp>
      <p:sp>
        <p:nvSpPr>
          <p:cNvPr id="7" name="Text 5"/>
          <p:cNvSpPr txBox="1"/>
          <p:nvPr/>
        </p:nvSpPr>
        <p:spPr>
          <a:xfrm>
            <a:off x="661416" y="5458968"/>
            <a:ext cx="1389888" cy="292608"/>
          </a:xfrm>
          <a:prstGeom prst="rect">
            <a:avLst/>
          </a:prstGeom>
          <a:noFill/>
          <a:ln/>
        </p:spPr>
        <p:txBody>
          <a:bodyPr wrap="square" lIns="0" tIns="0" rIns="0" bIns="0" rtlCol="0" anchor="ctr"/>
          <a:lstStyle/>
          <a:p>
            <a:pPr algn="ctr" indent="0" marL="0">
              <a:buNone/>
            </a:pPr>
            <a:r>
              <a:rPr lang="en-US" sz="1100" dirty="0">
                <a:solidFill>
                  <a:schemeClr val="bg2"/>
                </a:solidFill>
              </a:rPr>
              <a:t>Expected</a:t>
            </a:r>
            <a:endParaRPr lang="en-US" sz="1100" dirty="0"/>
          </a:p>
        </p:txBody>
      </p:sp>
      <p:sp>
        <p:nvSpPr>
          <p:cNvPr id="8" name="Promotion bar"/>
          <p:cNvSpPr/>
          <p:nvPr/>
        </p:nvSpPr>
        <p:spPr>
          <a:xfrm>
            <a:off x="2048256" y="2540752"/>
            <a:ext cx="749808" cy="1403970"/>
          </a:xfrm>
          <a:prstGeom prst="rect">
            <a:avLst/>
          </a:prstGeom>
          <a:solidFill>
            <a:schemeClr val="accent1"/>
          </a:solidFill>
          <a:ln w="12700">
            <a:solidFill>
              <a:schemeClr val="accent1"/>
            </a:solidFill>
            <a:prstDash val="solid"/>
          </a:ln>
        </p:spPr>
      </p:sp>
      <p:sp>
        <p:nvSpPr>
          <p:cNvPr id="9" name="Text 7"/>
          <p:cNvSpPr txBox="1"/>
          <p:nvPr/>
        </p:nvSpPr>
        <p:spPr>
          <a:xfrm>
            <a:off x="1728216" y="2193280"/>
            <a:ext cx="1389888" cy="292608"/>
          </a:xfrm>
          <a:prstGeom prst="rect">
            <a:avLst/>
          </a:prstGeom>
          <a:noFill/>
          <a:ln/>
        </p:spPr>
        <p:txBody>
          <a:bodyPr wrap="square" lIns="0" tIns="0" rIns="0" bIns="0" rtlCol="0" anchor="ctr"/>
          <a:lstStyle/>
          <a:p>
            <a:pPr algn="ctr" indent="0" marL="0">
              <a:buNone/>
            </a:pPr>
            <a:r>
              <a:rPr lang="en-US" sz="1200" b="1" dirty="0">
                <a:solidFill>
                  <a:schemeClr val="bg1"/>
                </a:solidFill>
              </a:rPr>
              <a:t>−$255.9K</a:t>
            </a:r>
            <a:endParaRPr lang="en-US" sz="1200" dirty="0"/>
          </a:p>
        </p:txBody>
      </p:sp>
      <p:sp>
        <p:nvSpPr>
          <p:cNvPr id="10" name="Text 8"/>
          <p:cNvSpPr txBox="1"/>
          <p:nvPr/>
        </p:nvSpPr>
        <p:spPr>
          <a:xfrm>
            <a:off x="1728216" y="5458968"/>
            <a:ext cx="1389888" cy="292608"/>
          </a:xfrm>
          <a:prstGeom prst="rect">
            <a:avLst/>
          </a:prstGeom>
          <a:noFill/>
          <a:ln/>
        </p:spPr>
        <p:txBody>
          <a:bodyPr wrap="square" lIns="0" tIns="0" rIns="0" bIns="0" rtlCol="0" anchor="ctr"/>
          <a:lstStyle/>
          <a:p>
            <a:pPr algn="ctr" indent="0" marL="0">
              <a:buNone/>
            </a:pPr>
            <a:r>
              <a:rPr lang="en-US" sz="1100" dirty="0">
                <a:solidFill>
                  <a:schemeClr val="bg2"/>
                </a:solidFill>
              </a:rPr>
              <a:t>Promotion</a:t>
            </a:r>
            <a:endParaRPr lang="en-US" sz="1100" dirty="0"/>
          </a:p>
        </p:txBody>
      </p:sp>
      <p:sp>
        <p:nvSpPr>
          <p:cNvPr id="11" name="Price / cost bar"/>
          <p:cNvSpPr/>
          <p:nvPr/>
        </p:nvSpPr>
        <p:spPr>
          <a:xfrm>
            <a:off x="3115056" y="3944722"/>
            <a:ext cx="749808" cy="222748"/>
          </a:xfrm>
          <a:prstGeom prst="rect">
            <a:avLst/>
          </a:prstGeom>
          <a:solidFill>
            <a:schemeClr val="accent6"/>
          </a:solidFill>
          <a:ln w="12700">
            <a:solidFill>
              <a:schemeClr val="accent6"/>
            </a:solidFill>
            <a:prstDash val="solid"/>
          </a:ln>
        </p:spPr>
      </p:sp>
      <p:sp>
        <p:nvSpPr>
          <p:cNvPr id="12" name="Text 10"/>
          <p:cNvSpPr txBox="1"/>
          <p:nvPr/>
        </p:nvSpPr>
        <p:spPr>
          <a:xfrm>
            <a:off x="2795016" y="3597250"/>
            <a:ext cx="1389888" cy="292608"/>
          </a:xfrm>
          <a:prstGeom prst="rect">
            <a:avLst/>
          </a:prstGeom>
          <a:noFill/>
          <a:ln/>
        </p:spPr>
        <p:txBody>
          <a:bodyPr wrap="square" lIns="0" tIns="0" rIns="0" bIns="0" rtlCol="0" anchor="ctr"/>
          <a:lstStyle/>
          <a:p>
            <a:pPr algn="ctr" indent="0" marL="0">
              <a:buNone/>
            </a:pPr>
            <a:r>
              <a:rPr lang="en-US" sz="1200" b="1" dirty="0">
                <a:solidFill>
                  <a:schemeClr val="bg1"/>
                </a:solidFill>
              </a:rPr>
              <a:t>−$40.6K</a:t>
            </a:r>
            <a:endParaRPr lang="en-US" sz="1200" dirty="0"/>
          </a:p>
        </p:txBody>
      </p:sp>
      <p:sp>
        <p:nvSpPr>
          <p:cNvPr id="13" name="Text 11"/>
          <p:cNvSpPr txBox="1"/>
          <p:nvPr/>
        </p:nvSpPr>
        <p:spPr>
          <a:xfrm>
            <a:off x="2795016" y="5458968"/>
            <a:ext cx="1389888" cy="292608"/>
          </a:xfrm>
          <a:prstGeom prst="rect">
            <a:avLst/>
          </a:prstGeom>
          <a:noFill/>
          <a:ln/>
        </p:spPr>
        <p:txBody>
          <a:bodyPr wrap="square" lIns="0" tIns="0" rIns="0" bIns="0" rtlCol="0" anchor="ctr"/>
          <a:lstStyle/>
          <a:p>
            <a:pPr algn="ctr" indent="0" marL="0">
              <a:buNone/>
            </a:pPr>
            <a:r>
              <a:rPr lang="en-US" sz="1100" dirty="0">
                <a:solidFill>
                  <a:schemeClr val="bg2"/>
                </a:solidFill>
              </a:rPr>
              <a:t>Price / cost</a:t>
            </a:r>
            <a:endParaRPr lang="en-US" sz="1100" dirty="0"/>
          </a:p>
        </p:txBody>
      </p:sp>
      <p:sp>
        <p:nvSpPr>
          <p:cNvPr id="14" name="Footfall bar"/>
          <p:cNvSpPr/>
          <p:nvPr/>
        </p:nvSpPr>
        <p:spPr>
          <a:xfrm>
            <a:off x="4181856" y="4167469"/>
            <a:ext cx="749808" cy="210129"/>
          </a:xfrm>
          <a:prstGeom prst="rect">
            <a:avLst/>
          </a:prstGeom>
          <a:solidFill>
            <a:schemeClr val="accent2"/>
          </a:solidFill>
          <a:ln w="12700">
            <a:solidFill>
              <a:schemeClr val="accent2"/>
            </a:solidFill>
            <a:prstDash val="solid"/>
          </a:ln>
        </p:spPr>
      </p:sp>
      <p:sp>
        <p:nvSpPr>
          <p:cNvPr id="15" name="Text 13"/>
          <p:cNvSpPr txBox="1"/>
          <p:nvPr/>
        </p:nvSpPr>
        <p:spPr>
          <a:xfrm>
            <a:off x="3861816" y="3819997"/>
            <a:ext cx="1389888" cy="292608"/>
          </a:xfrm>
          <a:prstGeom prst="rect">
            <a:avLst/>
          </a:prstGeom>
          <a:noFill/>
          <a:ln/>
        </p:spPr>
        <p:txBody>
          <a:bodyPr wrap="square" lIns="0" tIns="0" rIns="0" bIns="0" rtlCol="0" anchor="ctr"/>
          <a:lstStyle/>
          <a:p>
            <a:pPr algn="ctr" indent="0" marL="0">
              <a:buNone/>
            </a:pPr>
            <a:r>
              <a:rPr lang="en-US" sz="1200" b="1" dirty="0">
                <a:solidFill>
                  <a:schemeClr val="bg1"/>
                </a:solidFill>
              </a:rPr>
              <a:t>−$38.3K</a:t>
            </a:r>
            <a:endParaRPr lang="en-US" sz="1200" dirty="0"/>
          </a:p>
        </p:txBody>
      </p:sp>
      <p:sp>
        <p:nvSpPr>
          <p:cNvPr id="16" name="Text 14"/>
          <p:cNvSpPr txBox="1"/>
          <p:nvPr/>
        </p:nvSpPr>
        <p:spPr>
          <a:xfrm>
            <a:off x="3861816" y="5458968"/>
            <a:ext cx="1389888" cy="292608"/>
          </a:xfrm>
          <a:prstGeom prst="rect">
            <a:avLst/>
          </a:prstGeom>
          <a:noFill/>
          <a:ln/>
        </p:spPr>
        <p:txBody>
          <a:bodyPr wrap="square" lIns="0" tIns="0" rIns="0" bIns="0" rtlCol="0" anchor="ctr"/>
          <a:lstStyle/>
          <a:p>
            <a:pPr algn="ctr" indent="0" marL="0">
              <a:buNone/>
            </a:pPr>
            <a:r>
              <a:rPr lang="en-US" sz="1100" dirty="0">
                <a:solidFill>
                  <a:schemeClr val="bg2"/>
                </a:solidFill>
              </a:rPr>
              <a:t>Footfall</a:t>
            </a:r>
            <a:endParaRPr lang="en-US" sz="1100" dirty="0"/>
          </a:p>
        </p:txBody>
      </p:sp>
      <p:sp>
        <p:nvSpPr>
          <p:cNvPr id="17" name="Unexplained bar"/>
          <p:cNvSpPr/>
          <p:nvPr/>
        </p:nvSpPr>
        <p:spPr>
          <a:xfrm>
            <a:off x="5248656" y="4369918"/>
            <a:ext cx="749808" cy="27432"/>
          </a:xfrm>
          <a:prstGeom prst="rect">
            <a:avLst/>
          </a:prstGeom>
          <a:solidFill>
            <a:schemeClr val="bg2"/>
          </a:solidFill>
          <a:ln w="12700">
            <a:solidFill>
              <a:schemeClr val="bg2"/>
            </a:solidFill>
            <a:prstDash val="solid"/>
          </a:ln>
        </p:spPr>
      </p:sp>
      <p:sp>
        <p:nvSpPr>
          <p:cNvPr id="18" name="Text 16"/>
          <p:cNvSpPr txBox="1"/>
          <p:nvPr/>
        </p:nvSpPr>
        <p:spPr>
          <a:xfrm>
            <a:off x="4928616" y="4022446"/>
            <a:ext cx="1389888" cy="292608"/>
          </a:xfrm>
          <a:prstGeom prst="rect">
            <a:avLst/>
          </a:prstGeom>
          <a:noFill/>
          <a:ln/>
        </p:spPr>
        <p:txBody>
          <a:bodyPr wrap="square" lIns="0" tIns="0" rIns="0" bIns="0" rtlCol="0" anchor="ctr"/>
          <a:lstStyle/>
          <a:p>
            <a:pPr algn="ctr" indent="0" marL="0">
              <a:buNone/>
            </a:pPr>
            <a:r>
              <a:rPr lang="en-US" sz="1200" b="1" dirty="0">
                <a:solidFill>
                  <a:schemeClr val="bg1"/>
                </a:solidFill>
              </a:rPr>
              <a:t>+$1.4K</a:t>
            </a:r>
            <a:endParaRPr lang="en-US" sz="1200" dirty="0"/>
          </a:p>
        </p:txBody>
      </p:sp>
      <p:sp>
        <p:nvSpPr>
          <p:cNvPr id="19" name="Text 17"/>
          <p:cNvSpPr txBox="1"/>
          <p:nvPr/>
        </p:nvSpPr>
        <p:spPr>
          <a:xfrm>
            <a:off x="4928616" y="5458968"/>
            <a:ext cx="1389888" cy="292608"/>
          </a:xfrm>
          <a:prstGeom prst="rect">
            <a:avLst/>
          </a:prstGeom>
          <a:noFill/>
          <a:ln/>
        </p:spPr>
        <p:txBody>
          <a:bodyPr wrap="square" lIns="0" tIns="0" rIns="0" bIns="0" rtlCol="0" anchor="ctr"/>
          <a:lstStyle/>
          <a:p>
            <a:pPr algn="ctr" indent="0" marL="0">
              <a:buNone/>
            </a:pPr>
            <a:r>
              <a:rPr lang="en-US" sz="1100" dirty="0">
                <a:solidFill>
                  <a:schemeClr val="bg2"/>
                </a:solidFill>
              </a:rPr>
              <a:t>Unexplained</a:t>
            </a:r>
            <a:endParaRPr lang="en-US" sz="1100" dirty="0"/>
          </a:p>
        </p:txBody>
      </p:sp>
      <p:sp>
        <p:nvSpPr>
          <p:cNvPr id="20" name="Actual bar"/>
          <p:cNvSpPr/>
          <p:nvPr/>
        </p:nvSpPr>
        <p:spPr>
          <a:xfrm>
            <a:off x="6315456" y="4369918"/>
            <a:ext cx="749808" cy="979322"/>
          </a:xfrm>
          <a:prstGeom prst="rect">
            <a:avLst/>
          </a:prstGeom>
          <a:solidFill>
            <a:schemeClr val="bg2">
              <a:alpha val="60000"/>
            </a:schemeClr>
          </a:solidFill>
          <a:ln w="12700">
            <a:solidFill>
              <a:schemeClr val="bg2"/>
            </a:solidFill>
            <a:prstDash val="solid"/>
          </a:ln>
        </p:spPr>
      </p:sp>
      <p:sp>
        <p:nvSpPr>
          <p:cNvPr id="21" name="Text 19"/>
          <p:cNvSpPr txBox="1"/>
          <p:nvPr/>
        </p:nvSpPr>
        <p:spPr>
          <a:xfrm>
            <a:off x="5995416" y="4022446"/>
            <a:ext cx="1389888" cy="292608"/>
          </a:xfrm>
          <a:prstGeom prst="rect">
            <a:avLst/>
          </a:prstGeom>
          <a:noFill/>
          <a:ln/>
        </p:spPr>
        <p:txBody>
          <a:bodyPr wrap="square" lIns="0" tIns="0" rIns="0" bIns="0" rtlCol="0" anchor="ctr"/>
          <a:lstStyle/>
          <a:p>
            <a:pPr algn="ctr" indent="0" marL="0">
              <a:buNone/>
            </a:pPr>
            <a:r>
              <a:rPr lang="en-US" sz="1200" b="1" dirty="0">
                <a:solidFill>
                  <a:schemeClr val="bg1"/>
                </a:solidFill>
              </a:rPr>
              <a:t>$1.08M</a:t>
            </a:r>
            <a:endParaRPr lang="en-US" sz="1200" dirty="0"/>
          </a:p>
        </p:txBody>
      </p:sp>
      <p:sp>
        <p:nvSpPr>
          <p:cNvPr id="22" name="Text 20"/>
          <p:cNvSpPr txBox="1"/>
          <p:nvPr/>
        </p:nvSpPr>
        <p:spPr>
          <a:xfrm>
            <a:off x="5995416" y="5458968"/>
            <a:ext cx="1389888" cy="292608"/>
          </a:xfrm>
          <a:prstGeom prst="rect">
            <a:avLst/>
          </a:prstGeom>
          <a:noFill/>
          <a:ln/>
        </p:spPr>
        <p:txBody>
          <a:bodyPr wrap="square" lIns="0" tIns="0" rIns="0" bIns="0" rtlCol="0" anchor="ctr"/>
          <a:lstStyle/>
          <a:p>
            <a:pPr algn="ctr" indent="0" marL="0">
              <a:buNone/>
            </a:pPr>
            <a:r>
              <a:rPr lang="en-US" sz="1100" dirty="0">
                <a:solidFill>
                  <a:schemeClr val="bg2"/>
                </a:solidFill>
              </a:rPr>
              <a:t>Actual</a:t>
            </a:r>
            <a:endParaRPr lang="en-US" sz="1100" dirty="0"/>
          </a:p>
        </p:txBody>
      </p:sp>
      <p:sp>
        <p:nvSpPr>
          <p:cNvPr id="23" name="Text 21"/>
          <p:cNvSpPr txBox="1"/>
          <p:nvPr/>
        </p:nvSpPr>
        <p:spPr>
          <a:xfrm>
            <a:off x="822960" y="5715000"/>
            <a:ext cx="6400800" cy="274320"/>
          </a:xfrm>
          <a:prstGeom prst="rect">
            <a:avLst/>
          </a:prstGeom>
          <a:noFill/>
          <a:ln/>
        </p:spPr>
        <p:txBody>
          <a:bodyPr wrap="square" lIns="0" tIns="0" rIns="0" bIns="0" rtlCol="0" anchor="ctr"/>
          <a:lstStyle/>
          <a:p>
            <a:pPr indent="0" marL="0">
              <a:buNone/>
            </a:pPr>
            <a:r>
              <a:rPr lang="en-US" sz="1000" i="1" dirty="0">
                <a:solidFill>
                  <a:schemeClr val="bg2"/>
                </a:solidFill>
              </a:rPr>
              <a:t>Axis starts at $900K to show the drivers. Live app output on a sample dataset.</a:t>
            </a:r>
            <a:endParaRPr lang="en-US" sz="1000" dirty="0"/>
          </a:p>
        </p:txBody>
      </p:sp>
      <p:sp>
        <p:nvSpPr>
          <p:cNvPr id="24" name="Text 22"/>
          <p:cNvSpPr txBox="1"/>
          <p:nvPr/>
        </p:nvSpPr>
        <p:spPr>
          <a:xfrm>
            <a:off x="8001000" y="1828800"/>
            <a:ext cx="3642055" cy="868680"/>
          </a:xfrm>
          <a:prstGeom prst="rect">
            <a:avLst/>
          </a:prstGeom>
          <a:noFill/>
          <a:ln/>
        </p:spPr>
        <p:txBody>
          <a:bodyPr wrap="square" lIns="0" tIns="0" rIns="0" bIns="0" rtlCol="0" anchor="ctr"/>
          <a:lstStyle/>
          <a:p>
            <a:pPr indent="0" marL="0">
              <a:buNone/>
            </a:pPr>
            <a:r>
              <a:rPr lang="en-US" sz="5400" b="1" dirty="0">
                <a:solidFill>
                  <a:schemeClr val="accent5"/>
                </a:solidFill>
              </a:rPr>
              <a:t>−23.6%</a:t>
            </a:r>
            <a:endParaRPr lang="en-US" sz="5400" dirty="0"/>
          </a:p>
        </p:txBody>
      </p:sp>
      <p:sp>
        <p:nvSpPr>
          <p:cNvPr id="25" name="Text 23"/>
          <p:cNvSpPr txBox="1"/>
          <p:nvPr/>
        </p:nvSpPr>
        <p:spPr>
          <a:xfrm>
            <a:off x="8001000" y="2697480"/>
            <a:ext cx="3642055" cy="502920"/>
          </a:xfrm>
          <a:prstGeom prst="rect">
            <a:avLst/>
          </a:prstGeom>
          <a:noFill/>
          <a:ln/>
        </p:spPr>
        <p:txBody>
          <a:bodyPr wrap="square" lIns="0" tIns="0" rIns="0" bIns="0" rtlCol="0" anchor="t"/>
          <a:lstStyle/>
          <a:p>
            <a:pPr indent="0" marL="0">
              <a:buNone/>
            </a:pPr>
            <a:r>
              <a:rPr lang="en-US" sz="1300" dirty="0">
                <a:solidFill>
                  <a:schemeClr val="bg2"/>
                </a:solidFill>
              </a:rPr>
              <a:t>net sales vs expected, Sep 3–30  ·  outside normal variation</a:t>
            </a:r>
            <a:endParaRPr lang="en-US" sz="1300" dirty="0"/>
          </a:p>
        </p:txBody>
      </p:sp>
      <p:sp>
        <p:nvSpPr>
          <p:cNvPr id="26" name="top cause card"/>
          <p:cNvSpPr/>
          <p:nvPr/>
        </p:nvSpPr>
        <p:spPr>
          <a:xfrm>
            <a:off x="8001000" y="3383280"/>
            <a:ext cx="3642055" cy="1143000"/>
          </a:xfrm>
          <a:prstGeom prst="roundRect">
            <a:avLst>
              <a:gd name="adj" fmla="val 9600"/>
            </a:avLst>
          </a:prstGeom>
          <a:solidFill>
            <a:schemeClr val="tx2"/>
          </a:solidFill>
          <a:ln w="9525">
            <a:solidFill>
              <a:schemeClr val="tx2"/>
            </a:solidFill>
            <a:prstDash val="solid"/>
          </a:ln>
        </p:spPr>
      </p:sp>
      <p:sp>
        <p:nvSpPr>
          <p:cNvPr id="27" name="Text 25"/>
          <p:cNvSpPr txBox="1"/>
          <p:nvPr/>
        </p:nvSpPr>
        <p:spPr>
          <a:xfrm>
            <a:off x="8229600" y="3429000"/>
            <a:ext cx="3184855" cy="1051560"/>
          </a:xfrm>
          <a:prstGeom prst="rect">
            <a:avLst/>
          </a:prstGeom>
          <a:noFill/>
          <a:ln/>
        </p:spPr>
        <p:txBody>
          <a:bodyPr wrap="square" lIns="0" tIns="0" rIns="0" bIns="0" rtlCol="0" anchor="ctr"/>
          <a:lstStyle/>
          <a:p>
            <a:pPr indent="0" marL="0">
              <a:buNone/>
            </a:pPr>
            <a:r>
              <a:rPr lang="en-US" sz="1200" dirty="0">
                <a:solidFill>
                  <a:schemeClr val="bg2"/>
                </a:solidFill>
              </a:rPr>
              <a:t>Largest cause
</a:t>
            </a:r>
            <a:endParaRPr lang="en-US" sz="1200" dirty="0"/>
          </a:p>
          <a:p>
            <a:pPr indent="0" marL="0">
              <a:buNone/>
            </a:pPr>
            <a:r>
              <a:rPr lang="en-US" sz="1900" b="1" dirty="0">
                <a:solidFill>
                  <a:schemeClr val="bg1"/>
                </a:solidFill>
              </a:rPr>
              <a:t>Promotion depth cut</a:t>
            </a:r>
            <a:endParaRPr lang="en-US" sz="1200" dirty="0"/>
          </a:p>
          <a:p>
            <a:pPr indent="0" marL="0">
              <a:buNone/>
            </a:pPr>
            <a:r>
              <a:rPr lang="en-US" sz="1300" dirty="0">
                <a:solidFill>
                  <a:schemeClr val="accent3"/>
                </a:solidFill>
              </a:rPr>
              <a:t>77% of the gap · supported</a:t>
            </a:r>
            <a:endParaRPr lang="en-US" sz="1200" dirty="0"/>
          </a:p>
        </p:txBody>
      </p:sp>
      <p:sp>
        <p:nvSpPr>
          <p:cNvPr id="28" name="ruled out card"/>
          <p:cNvSpPr/>
          <p:nvPr/>
        </p:nvSpPr>
        <p:spPr>
          <a:xfrm>
            <a:off x="8001000" y="4709160"/>
            <a:ext cx="3642055" cy="1051560"/>
          </a:xfrm>
          <a:prstGeom prst="roundRect">
            <a:avLst>
              <a:gd name="adj" fmla="val 10435"/>
            </a:avLst>
          </a:prstGeom>
          <a:solidFill>
            <a:schemeClr val="tx2"/>
          </a:solidFill>
          <a:ln w="9525">
            <a:solidFill>
              <a:schemeClr val="tx2"/>
            </a:solidFill>
            <a:prstDash val="solid"/>
          </a:ln>
        </p:spPr>
      </p:sp>
      <p:sp>
        <p:nvSpPr>
          <p:cNvPr id="29" name="Text 27"/>
          <p:cNvSpPr txBox="1"/>
          <p:nvPr/>
        </p:nvSpPr>
        <p:spPr>
          <a:xfrm>
            <a:off x="8229600" y="4754880"/>
            <a:ext cx="3184855" cy="960120"/>
          </a:xfrm>
          <a:prstGeom prst="rect">
            <a:avLst/>
          </a:prstGeom>
          <a:noFill/>
          <a:ln/>
        </p:spPr>
        <p:txBody>
          <a:bodyPr wrap="square" lIns="0" tIns="0" rIns="0" bIns="0" rtlCol="0" anchor="ctr"/>
          <a:lstStyle/>
          <a:p>
            <a:pPr indent="0" marL="0">
              <a:buNone/>
            </a:pPr>
            <a:r>
              <a:rPr lang="en-US" sz="1200" dirty="0">
                <a:solidFill>
                  <a:schemeClr val="bg2"/>
                </a:solidFill>
              </a:rPr>
              <a:t>Ruled out
</a:t>
            </a:r>
            <a:endParaRPr lang="en-US" sz="1200" dirty="0"/>
          </a:p>
          <a:p>
            <a:pPr indent="0" marL="0">
              <a:buNone/>
            </a:pPr>
            <a:r>
              <a:rPr lang="en-US" sz="1700" b="1" dirty="0">
                <a:solidFill>
                  <a:schemeClr val="bg1"/>
                </a:solidFill>
              </a:rPr>
              <a:t>Missing or closed days</a:t>
            </a:r>
            <a:endParaRPr lang="en-US" sz="1200" dirty="0"/>
          </a:p>
          <a:p>
            <a:pPr indent="0" marL="0">
              <a:buNone/>
            </a:pPr>
            <a:r>
              <a:rPr lang="en-US" sz="1300" dirty="0">
                <a:solidFill>
                  <a:schemeClr val="accent5"/>
                </a:solidFill>
              </a:rPr>
              <a:t>100% day coverage</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TRUST</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Every number is a claim you can open</a:t>
            </a:r>
            <a:endParaRPr lang="en-US" sz="3600" dirty="0"/>
          </a:p>
        </p:txBody>
      </p:sp>
      <p:sp>
        <p:nvSpPr>
          <p:cNvPr id="4" name="Evidence panel frame"/>
          <p:cNvSpPr/>
          <p:nvPr/>
        </p:nvSpPr>
        <p:spPr>
          <a:xfrm>
            <a:off x="5020056" y="1728216"/>
            <a:ext cx="6647688" cy="4195953"/>
          </a:xfrm>
          <a:prstGeom prst="roundRect">
            <a:avLst>
              <a:gd name="adj" fmla="val 2179"/>
            </a:avLst>
          </a:prstGeom>
          <a:solidFill>
            <a:schemeClr val="tx2"/>
          </a:solidFill>
          <a:ln w="12700">
            <a:solidFill>
              <a:schemeClr val="accent1">
                <a:alpha val="45000"/>
              </a:schemeClr>
            </a:solidFill>
            <a:prstDash val="solid"/>
          </a:ln>
          <a:effectLst>
            <a:outerShdw sx="100000" sy="100000" kx="0" ky="0" algn="bl" rotWithShape="0" blurRad="381000" dist="127000" dir="5400000">
              <a:srgbClr val="000000">
                <a:alpha val="60000"/>
              </a:srgbClr>
            </a:outerShdw>
          </a:effectLst>
        </p:spPr>
      </p:sp>
      <p:pic>
        <p:nvPicPr>
          <p:cNvPr id="5" name="Evidence panel" descr="Evidence panel">    </p:cNvPr>
          <p:cNvPicPr>
            <a:picLocks noChangeAspect="1"/>
          </p:cNvPicPr>
          <p:nvPr/>
        </p:nvPicPr>
        <p:blipFill>
          <a:blip r:embed="rId1"/>
          <a:stretch>
            <a:fillRect/>
          </a:stretch>
        </p:blipFill>
        <p:spPr>
          <a:xfrm>
            <a:off x="5074920" y="1783080"/>
            <a:ext cx="6537960" cy="4086225"/>
          </a:xfrm>
          <a:prstGeom prst="rect">
            <a:avLst/>
          </a:prstGeom>
        </p:spPr>
      </p:pic>
      <p:sp>
        <p:nvSpPr>
          <p:cNvPr id="6" name="The query badge"/>
          <p:cNvSpPr/>
          <p:nvPr/>
        </p:nvSpPr>
        <p:spPr>
          <a:xfrm>
            <a:off x="548640" y="1783080"/>
            <a:ext cx="548640" cy="548640"/>
          </a:xfrm>
          <a:prstGeom prst="ellipse">
            <a:avLst/>
          </a:prstGeom>
          <a:solidFill>
            <a:schemeClr val="accent2">
              <a:alpha val="18000"/>
            </a:schemeClr>
          </a:solidFill>
          <a:ln w="12700">
            <a:solidFill>
              <a:schemeClr val="accent2"/>
            </a:solidFill>
            <a:prstDash val="solid"/>
          </a:ln>
        </p:spPr>
      </p:sp>
      <p:pic>
        <p:nvPicPr>
          <p:cNvPr id="7" name="The query" descr="preencoded.png">    </p:cNvPr>
          <p:cNvPicPr>
            <a:picLocks noChangeAspect="1"/>
          </p:cNvPicPr>
          <p:nvPr/>
        </p:nvPicPr>
        <p:blipFill>
          <a:blip r:embed="rId2"/>
          <a:stretch>
            <a:fillRect/>
          </a:stretch>
        </p:blipFill>
        <p:spPr>
          <a:xfrm>
            <a:off x="685800" y="1920240"/>
            <a:ext cx="274320" cy="274320"/>
          </a:xfrm>
          <a:prstGeom prst="rect">
            <a:avLst/>
          </a:prstGeom>
        </p:spPr>
      </p:pic>
      <p:sp>
        <p:nvSpPr>
          <p:cNvPr id="8" name="Text 4"/>
          <p:cNvSpPr txBox="1"/>
          <p:nvPr/>
        </p:nvSpPr>
        <p:spPr>
          <a:xfrm>
            <a:off x="1280160" y="1746504"/>
            <a:ext cx="3566160" cy="347472"/>
          </a:xfrm>
          <a:prstGeom prst="rect">
            <a:avLst/>
          </a:prstGeom>
          <a:noFill/>
          <a:ln/>
        </p:spPr>
        <p:txBody>
          <a:bodyPr wrap="square" lIns="0" tIns="0" rIns="0" bIns="0" rtlCol="0" anchor="ctr"/>
          <a:lstStyle/>
          <a:p>
            <a:pPr indent="0" marL="0">
              <a:buNone/>
            </a:pPr>
            <a:r>
              <a:rPr lang="en-US" sz="1800" b="1" dirty="0">
                <a:solidFill>
                  <a:schemeClr val="bg1"/>
                </a:solidFill>
              </a:rPr>
              <a:t>The query</a:t>
            </a:r>
            <a:endParaRPr lang="en-US" sz="1800" dirty="0"/>
          </a:p>
        </p:txBody>
      </p:sp>
      <p:sp>
        <p:nvSpPr>
          <p:cNvPr id="9" name="Text 5"/>
          <p:cNvSpPr txBox="1"/>
          <p:nvPr/>
        </p:nvSpPr>
        <p:spPr>
          <a:xfrm>
            <a:off x="1280160" y="2112264"/>
            <a:ext cx="3566160" cy="548640"/>
          </a:xfrm>
          <a:prstGeom prst="rect">
            <a:avLst/>
          </a:prstGeom>
          <a:noFill/>
          <a:ln/>
        </p:spPr>
        <p:txBody>
          <a:bodyPr wrap="square" lIns="0" tIns="0" rIns="0" bIns="0" rtlCol="0" anchor="t"/>
          <a:lstStyle/>
          <a:p>
            <a:pPr indent="0" marL="0">
              <a:buNone/>
            </a:pPr>
            <a:r>
              <a:rPr lang="en-US" sz="1400" dirty="0">
                <a:solidFill>
                  <a:schemeClr val="bg2"/>
                </a:solidFill>
              </a:rPr>
              <a:t>The exact aggregate that produced the figure.</a:t>
            </a:r>
            <a:endParaRPr lang="en-US" sz="1400" dirty="0"/>
          </a:p>
        </p:txBody>
      </p:sp>
      <p:sp>
        <p:nvSpPr>
          <p:cNvPr id="10" name="The rows badge"/>
          <p:cNvSpPr/>
          <p:nvPr/>
        </p:nvSpPr>
        <p:spPr>
          <a:xfrm>
            <a:off x="548640" y="2852928"/>
            <a:ext cx="548640" cy="548640"/>
          </a:xfrm>
          <a:prstGeom prst="ellipse">
            <a:avLst/>
          </a:prstGeom>
          <a:solidFill>
            <a:schemeClr val="accent1">
              <a:alpha val="18000"/>
            </a:schemeClr>
          </a:solidFill>
          <a:ln w="12700">
            <a:solidFill>
              <a:schemeClr val="accent1"/>
            </a:solidFill>
            <a:prstDash val="solid"/>
          </a:ln>
        </p:spPr>
      </p:sp>
      <p:pic>
        <p:nvPicPr>
          <p:cNvPr id="11" name="The rows" descr="preencoded.png">    </p:cNvPr>
          <p:cNvPicPr>
            <a:picLocks noChangeAspect="1"/>
          </p:cNvPicPr>
          <p:nvPr/>
        </p:nvPicPr>
        <p:blipFill>
          <a:blip r:embed="rId3"/>
          <a:stretch>
            <a:fillRect/>
          </a:stretch>
        </p:blipFill>
        <p:spPr>
          <a:xfrm>
            <a:off x="685800" y="2990088"/>
            <a:ext cx="274320" cy="274320"/>
          </a:xfrm>
          <a:prstGeom prst="rect">
            <a:avLst/>
          </a:prstGeom>
        </p:spPr>
      </p:pic>
      <p:sp>
        <p:nvSpPr>
          <p:cNvPr id="12" name="Text 7"/>
          <p:cNvSpPr txBox="1"/>
          <p:nvPr/>
        </p:nvSpPr>
        <p:spPr>
          <a:xfrm>
            <a:off x="1280160" y="2816352"/>
            <a:ext cx="3566160" cy="347472"/>
          </a:xfrm>
          <a:prstGeom prst="rect">
            <a:avLst/>
          </a:prstGeom>
          <a:noFill/>
          <a:ln/>
        </p:spPr>
        <p:txBody>
          <a:bodyPr wrap="square" lIns="0" tIns="0" rIns="0" bIns="0" rtlCol="0" anchor="ctr"/>
          <a:lstStyle/>
          <a:p>
            <a:pPr indent="0" marL="0">
              <a:buNone/>
            </a:pPr>
            <a:r>
              <a:rPr lang="en-US" sz="1800" b="1" dirty="0">
                <a:solidFill>
                  <a:schemeClr val="bg1"/>
                </a:solidFill>
              </a:rPr>
              <a:t>The rows</a:t>
            </a:r>
            <a:endParaRPr lang="en-US" sz="1800" dirty="0"/>
          </a:p>
        </p:txBody>
      </p:sp>
      <p:sp>
        <p:nvSpPr>
          <p:cNvPr id="13" name="Text 8"/>
          <p:cNvSpPr txBox="1"/>
          <p:nvPr/>
        </p:nvSpPr>
        <p:spPr>
          <a:xfrm>
            <a:off x="1280160" y="3182112"/>
            <a:ext cx="3566160" cy="548640"/>
          </a:xfrm>
          <a:prstGeom prst="rect">
            <a:avLst/>
          </a:prstGeom>
          <a:noFill/>
          <a:ln/>
        </p:spPr>
        <p:txBody>
          <a:bodyPr wrap="square" lIns="0" tIns="0" rIns="0" bIns="0" rtlCol="0" anchor="t"/>
          <a:lstStyle/>
          <a:p>
            <a:pPr indent="0" marL="0">
              <a:buNone/>
            </a:pPr>
            <a:r>
              <a:rPr lang="en-US" sz="1400" dirty="0">
                <a:solidFill>
                  <a:schemeClr val="bg2"/>
                </a:solidFill>
              </a:rPr>
              <a:t>A sample of your own rows behind it.</a:t>
            </a:r>
            <a:endParaRPr lang="en-US" sz="1400" dirty="0"/>
          </a:p>
        </p:txBody>
      </p:sp>
      <p:sp>
        <p:nvSpPr>
          <p:cNvPr id="14" name="The calculation badge"/>
          <p:cNvSpPr/>
          <p:nvPr/>
        </p:nvSpPr>
        <p:spPr>
          <a:xfrm>
            <a:off x="548640" y="3922776"/>
            <a:ext cx="548640" cy="548640"/>
          </a:xfrm>
          <a:prstGeom prst="ellipse">
            <a:avLst/>
          </a:prstGeom>
          <a:solidFill>
            <a:schemeClr val="accent4">
              <a:alpha val="18000"/>
            </a:schemeClr>
          </a:solidFill>
          <a:ln w="12700">
            <a:solidFill>
              <a:schemeClr val="accent4"/>
            </a:solidFill>
            <a:prstDash val="solid"/>
          </a:ln>
        </p:spPr>
      </p:sp>
      <p:pic>
        <p:nvPicPr>
          <p:cNvPr id="15" name="The calculation" descr="preencoded.png">    </p:cNvPr>
          <p:cNvPicPr>
            <a:picLocks noChangeAspect="1"/>
          </p:cNvPicPr>
          <p:nvPr/>
        </p:nvPicPr>
        <p:blipFill>
          <a:blip r:embed="rId4"/>
          <a:stretch>
            <a:fillRect/>
          </a:stretch>
        </p:blipFill>
        <p:spPr>
          <a:xfrm>
            <a:off x="685800" y="4059936"/>
            <a:ext cx="274320" cy="274320"/>
          </a:xfrm>
          <a:prstGeom prst="rect">
            <a:avLst/>
          </a:prstGeom>
        </p:spPr>
      </p:pic>
      <p:sp>
        <p:nvSpPr>
          <p:cNvPr id="16" name="Text 10"/>
          <p:cNvSpPr txBox="1"/>
          <p:nvPr/>
        </p:nvSpPr>
        <p:spPr>
          <a:xfrm>
            <a:off x="1280160" y="3886200"/>
            <a:ext cx="3566160" cy="347472"/>
          </a:xfrm>
          <a:prstGeom prst="rect">
            <a:avLst/>
          </a:prstGeom>
          <a:noFill/>
          <a:ln/>
        </p:spPr>
        <p:txBody>
          <a:bodyPr wrap="square" lIns="0" tIns="0" rIns="0" bIns="0" rtlCol="0" anchor="ctr"/>
          <a:lstStyle/>
          <a:p>
            <a:pPr indent="0" marL="0">
              <a:buNone/>
            </a:pPr>
            <a:r>
              <a:rPr lang="en-US" sz="1800" b="1" dirty="0">
                <a:solidFill>
                  <a:schemeClr val="bg1"/>
                </a:solidFill>
              </a:rPr>
              <a:t>The calculation</a:t>
            </a:r>
            <a:endParaRPr lang="en-US" sz="1800" dirty="0"/>
          </a:p>
        </p:txBody>
      </p:sp>
      <p:sp>
        <p:nvSpPr>
          <p:cNvPr id="17" name="Text 11"/>
          <p:cNvSpPr txBox="1"/>
          <p:nvPr/>
        </p:nvSpPr>
        <p:spPr>
          <a:xfrm>
            <a:off x="1280160" y="4251960"/>
            <a:ext cx="3566160" cy="548640"/>
          </a:xfrm>
          <a:prstGeom prst="rect">
            <a:avLst/>
          </a:prstGeom>
          <a:noFill/>
          <a:ln/>
        </p:spPr>
        <p:txBody>
          <a:bodyPr wrap="square" lIns="0" tIns="0" rIns="0" bIns="0" rtlCol="0" anchor="t"/>
          <a:lstStyle/>
          <a:p>
            <a:pPr indent="0" marL="0">
              <a:buNone/>
            </a:pPr>
            <a:r>
              <a:rPr lang="en-US" sz="1400" dirty="0">
                <a:solidFill>
                  <a:schemeClr val="bg2"/>
                </a:solidFill>
              </a:rPr>
              <a:t>Every step, with the interval and model version.</a:t>
            </a:r>
            <a:endParaRPr lang="en-US" sz="1400" dirty="0"/>
          </a:p>
        </p:txBody>
      </p:sp>
      <p:sp>
        <p:nvSpPr>
          <p:cNvPr id="18" name="The verifier badge"/>
          <p:cNvSpPr/>
          <p:nvPr/>
        </p:nvSpPr>
        <p:spPr>
          <a:xfrm>
            <a:off x="548640" y="4992624"/>
            <a:ext cx="548640" cy="548640"/>
          </a:xfrm>
          <a:prstGeom prst="ellipse">
            <a:avLst/>
          </a:prstGeom>
          <a:solidFill>
            <a:schemeClr val="accent3">
              <a:alpha val="18000"/>
            </a:schemeClr>
          </a:solidFill>
          <a:ln w="12700">
            <a:solidFill>
              <a:schemeClr val="accent3"/>
            </a:solidFill>
            <a:prstDash val="solid"/>
          </a:ln>
        </p:spPr>
      </p:sp>
      <p:pic>
        <p:nvPicPr>
          <p:cNvPr id="19" name="The verifier" descr="preencoded.png">    </p:cNvPr>
          <p:cNvPicPr>
            <a:picLocks noChangeAspect="1"/>
          </p:cNvPicPr>
          <p:nvPr/>
        </p:nvPicPr>
        <p:blipFill>
          <a:blip r:embed="rId5"/>
          <a:stretch>
            <a:fillRect/>
          </a:stretch>
        </p:blipFill>
        <p:spPr>
          <a:xfrm>
            <a:off x="685800" y="5129784"/>
            <a:ext cx="274320" cy="274320"/>
          </a:xfrm>
          <a:prstGeom prst="rect">
            <a:avLst/>
          </a:prstGeom>
        </p:spPr>
      </p:pic>
      <p:sp>
        <p:nvSpPr>
          <p:cNvPr id="20" name="Text 13"/>
          <p:cNvSpPr txBox="1"/>
          <p:nvPr/>
        </p:nvSpPr>
        <p:spPr>
          <a:xfrm>
            <a:off x="1280160" y="4956048"/>
            <a:ext cx="3566160" cy="347472"/>
          </a:xfrm>
          <a:prstGeom prst="rect">
            <a:avLst/>
          </a:prstGeom>
          <a:noFill/>
          <a:ln/>
        </p:spPr>
        <p:txBody>
          <a:bodyPr wrap="square" lIns="0" tIns="0" rIns="0" bIns="0" rtlCol="0" anchor="ctr"/>
          <a:lstStyle/>
          <a:p>
            <a:pPr indent="0" marL="0">
              <a:buNone/>
            </a:pPr>
            <a:r>
              <a:rPr lang="en-US" sz="1800" b="1" dirty="0">
                <a:solidFill>
                  <a:schemeClr val="bg1"/>
                </a:solidFill>
              </a:rPr>
              <a:t>The verifier</a:t>
            </a:r>
            <a:endParaRPr lang="en-US" sz="1800" dirty="0"/>
          </a:p>
        </p:txBody>
      </p:sp>
      <p:sp>
        <p:nvSpPr>
          <p:cNvPr id="21" name="Text 14"/>
          <p:cNvSpPr txBox="1"/>
          <p:nvPr/>
        </p:nvSpPr>
        <p:spPr>
          <a:xfrm>
            <a:off x="1280160" y="5321808"/>
            <a:ext cx="3566160" cy="548640"/>
          </a:xfrm>
          <a:prstGeom prst="rect">
            <a:avLst/>
          </a:prstGeom>
          <a:noFill/>
          <a:ln/>
        </p:spPr>
        <p:txBody>
          <a:bodyPr wrap="square" lIns="0" tIns="0" rIns="0" bIns="0" rtlCol="0" anchor="t"/>
          <a:lstStyle/>
          <a:p>
            <a:pPr indent="0" marL="0">
              <a:buNone/>
            </a:pPr>
            <a:r>
              <a:rPr lang="en-US" sz="1400" dirty="0">
                <a:solidFill>
                  <a:schemeClr val="bg2"/>
                </a:solidFill>
              </a:rPr>
              <a:t>Narration with an unmatched number never reaches you.</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ARCHITECTURE</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Deterministic maths on one reactive backend</a:t>
            </a:r>
            <a:endParaRPr lang="en-US" sz="3600" dirty="0"/>
          </a:p>
        </p:txBody>
      </p:sp>
      <p:sp>
        <p:nvSpPr>
          <p:cNvPr id="4" name="client box"/>
          <p:cNvSpPr/>
          <p:nvPr/>
        </p:nvSpPr>
        <p:spPr>
          <a:xfrm>
            <a:off x="548640" y="2148840"/>
            <a:ext cx="2514600" cy="3291840"/>
          </a:xfrm>
          <a:prstGeom prst="roundRect">
            <a:avLst>
              <a:gd name="adj" fmla="val 4364"/>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5" name="client icon badge"/>
          <p:cNvSpPr/>
          <p:nvPr/>
        </p:nvSpPr>
        <p:spPr>
          <a:xfrm>
            <a:off x="822960" y="2423160"/>
            <a:ext cx="566928" cy="566928"/>
          </a:xfrm>
          <a:prstGeom prst="ellipse">
            <a:avLst/>
          </a:prstGeom>
          <a:solidFill>
            <a:schemeClr val="accent2">
              <a:alpha val="18000"/>
            </a:schemeClr>
          </a:solidFill>
          <a:ln w="12700">
            <a:solidFill>
              <a:schemeClr val="accent2"/>
            </a:solidFill>
            <a:prstDash val="solid"/>
          </a:ln>
        </p:spPr>
      </p:sp>
      <p:pic>
        <p:nvPicPr>
          <p:cNvPr id="6" name="client icon" descr="preencoded.png">    </p:cNvPr>
          <p:cNvPicPr>
            <a:picLocks noChangeAspect="1"/>
          </p:cNvPicPr>
          <p:nvPr/>
        </p:nvPicPr>
        <p:blipFill>
          <a:blip r:embed="rId1"/>
          <a:stretch>
            <a:fillRect/>
          </a:stretch>
        </p:blipFill>
        <p:spPr>
          <a:xfrm>
            <a:off x="964692" y="2564892"/>
            <a:ext cx="283464" cy="283464"/>
          </a:xfrm>
          <a:prstGeom prst="rect">
            <a:avLst/>
          </a:prstGeom>
        </p:spPr>
      </p:pic>
      <p:sp>
        <p:nvSpPr>
          <p:cNvPr id="7" name="Text 4"/>
          <p:cNvSpPr txBox="1"/>
          <p:nvPr/>
        </p:nvSpPr>
        <p:spPr>
          <a:xfrm>
            <a:off x="822960" y="3154680"/>
            <a:ext cx="2011680" cy="2103120"/>
          </a:xfrm>
          <a:prstGeom prst="rect">
            <a:avLst/>
          </a:prstGeom>
          <a:noFill/>
          <a:ln/>
        </p:spPr>
        <p:txBody>
          <a:bodyPr wrap="square" lIns="0" tIns="0" rIns="0" bIns="0" rtlCol="0" anchor="t"/>
          <a:lstStyle/>
          <a:p>
            <a:pPr indent="0" marL="0">
              <a:buNone/>
            </a:pPr>
            <a:r>
              <a:rPr lang="en-US" sz="1900" b="1" dirty="0">
                <a:solidFill>
                  <a:schemeClr val="bg1"/>
                </a:solidFill>
              </a:rPr>
              <a:t>Web app</a:t>
            </a:r>
            <a:endParaRPr lang="en-US" sz="1900" dirty="0"/>
          </a:p>
          <a:p>
            <a:pPr indent="0" marL="0">
              <a:buNone/>
            </a:pPr>
            <a:r>
              <a:rPr lang="en-US" sz="1300" dirty="0">
                <a:solidFill>
                  <a:schemeClr val="bg2"/>
                </a:solidFill>
              </a:rPr>
              <a:t>React + Vite on Cloudflare Pages. Live updates over one Convex connection.</a:t>
            </a:r>
            <a:endParaRPr lang="en-US" sz="1900" dirty="0"/>
          </a:p>
        </p:txBody>
      </p:sp>
      <p:sp>
        <p:nvSpPr>
          <p:cNvPr id="8" name="convex box"/>
          <p:cNvSpPr/>
          <p:nvPr/>
        </p:nvSpPr>
        <p:spPr>
          <a:xfrm>
            <a:off x="3611880" y="1783080"/>
            <a:ext cx="3749040" cy="4023360"/>
          </a:xfrm>
          <a:prstGeom prst="roundRect">
            <a:avLst>
              <a:gd name="adj" fmla="val 2927"/>
            </a:avLst>
          </a:prstGeom>
          <a:solidFill>
            <a:schemeClr val="tx2"/>
          </a:solidFill>
          <a:ln w="9525">
            <a:solidFill>
              <a:schemeClr val="accent1"/>
            </a:solidFill>
            <a:prstDash val="solid"/>
          </a:ln>
          <a:effectLst>
            <a:outerShdw sx="100000" sy="100000" kx="0" ky="0" algn="bl" rotWithShape="0" blurRad="228600" dist="76200" dir="5400000">
              <a:srgbClr val="000000">
                <a:alpha val="45000"/>
              </a:srgbClr>
            </a:outerShdw>
          </a:effectLst>
        </p:spPr>
      </p:sp>
      <p:sp>
        <p:nvSpPr>
          <p:cNvPr id="9" name="convex icon badge"/>
          <p:cNvSpPr/>
          <p:nvPr/>
        </p:nvSpPr>
        <p:spPr>
          <a:xfrm>
            <a:off x="3886200" y="2011680"/>
            <a:ext cx="566928" cy="566928"/>
          </a:xfrm>
          <a:prstGeom prst="ellipse">
            <a:avLst/>
          </a:prstGeom>
          <a:solidFill>
            <a:schemeClr val="accent1">
              <a:alpha val="18000"/>
            </a:schemeClr>
          </a:solidFill>
          <a:ln w="12700">
            <a:solidFill>
              <a:schemeClr val="accent1"/>
            </a:solidFill>
            <a:prstDash val="solid"/>
          </a:ln>
        </p:spPr>
      </p:sp>
      <p:pic>
        <p:nvPicPr>
          <p:cNvPr id="10" name="convex icon" descr="preencoded.png">    </p:cNvPr>
          <p:cNvPicPr>
            <a:picLocks noChangeAspect="1"/>
          </p:cNvPicPr>
          <p:nvPr/>
        </p:nvPicPr>
        <p:blipFill>
          <a:blip r:embed="rId2"/>
          <a:stretch>
            <a:fillRect/>
          </a:stretch>
        </p:blipFill>
        <p:spPr>
          <a:xfrm>
            <a:off x="4027932" y="2153412"/>
            <a:ext cx="283464" cy="283464"/>
          </a:xfrm>
          <a:prstGeom prst="rect">
            <a:avLst/>
          </a:prstGeom>
        </p:spPr>
      </p:pic>
      <p:sp>
        <p:nvSpPr>
          <p:cNvPr id="11" name="Text 7"/>
          <p:cNvSpPr txBox="1"/>
          <p:nvPr/>
        </p:nvSpPr>
        <p:spPr>
          <a:xfrm>
            <a:off x="4617720" y="2011680"/>
            <a:ext cx="2560320" cy="566928"/>
          </a:xfrm>
          <a:prstGeom prst="rect">
            <a:avLst/>
          </a:prstGeom>
          <a:noFill/>
          <a:ln/>
        </p:spPr>
        <p:txBody>
          <a:bodyPr wrap="square" lIns="0" tIns="0" rIns="0" bIns="0" rtlCol="0" anchor="ctr"/>
          <a:lstStyle/>
          <a:p>
            <a:pPr indent="0" marL="0">
              <a:buNone/>
            </a:pPr>
            <a:r>
              <a:rPr lang="en-US" sz="1900" b="1" dirty="0">
                <a:solidFill>
                  <a:schemeClr val="bg1"/>
                </a:solidFill>
              </a:rPr>
              <a:t>Convex backend</a:t>
            </a:r>
            <a:endParaRPr lang="en-US" sz="1900" dirty="0"/>
          </a:p>
        </p:txBody>
      </p:sp>
      <p:sp>
        <p:nvSpPr>
          <p:cNvPr id="12" name="convex part 0"/>
          <p:cNvSpPr/>
          <p:nvPr/>
        </p:nvSpPr>
        <p:spPr>
          <a:xfrm>
            <a:off x="3886200" y="2788920"/>
            <a:ext cx="3200400" cy="548640"/>
          </a:xfrm>
          <a:prstGeom prst="roundRect">
            <a:avLst>
              <a:gd name="adj" fmla="val 13333"/>
            </a:avLst>
          </a:prstGeom>
          <a:solidFill>
            <a:schemeClr val="tx1"/>
          </a:solidFill>
          <a:ln w="12700">
            <a:solidFill>
              <a:schemeClr val="tx1"/>
            </a:solidFill>
            <a:prstDash val="solid"/>
          </a:ln>
        </p:spPr>
      </p:sp>
      <p:sp>
        <p:nvSpPr>
          <p:cNvPr id="13" name="Text 9"/>
          <p:cNvSpPr txBox="1"/>
          <p:nvPr/>
        </p:nvSpPr>
        <p:spPr>
          <a:xfrm>
            <a:off x="4069080" y="2788920"/>
            <a:ext cx="2834640" cy="548640"/>
          </a:xfrm>
          <a:prstGeom prst="rect">
            <a:avLst/>
          </a:prstGeom>
          <a:noFill/>
          <a:ln/>
        </p:spPr>
        <p:txBody>
          <a:bodyPr wrap="square" lIns="0" tIns="0" rIns="0" bIns="0" rtlCol="0" anchor="ctr"/>
          <a:lstStyle/>
          <a:p>
            <a:pPr indent="0" marL="0">
              <a:buNone/>
            </a:pPr>
            <a:r>
              <a:rPr lang="en-US" sz="1400" dirty="0">
                <a:solidFill>
                  <a:schemeClr val="bg1"/>
                </a:solidFill>
              </a:rPr>
              <a:t>Database · file storage · auth</a:t>
            </a:r>
            <a:endParaRPr lang="en-US" sz="1400" dirty="0"/>
          </a:p>
        </p:txBody>
      </p:sp>
      <p:sp>
        <p:nvSpPr>
          <p:cNvPr id="14" name="convex part 1"/>
          <p:cNvSpPr/>
          <p:nvPr/>
        </p:nvSpPr>
        <p:spPr>
          <a:xfrm>
            <a:off x="3886200" y="3474720"/>
            <a:ext cx="3200400" cy="548640"/>
          </a:xfrm>
          <a:prstGeom prst="roundRect">
            <a:avLst>
              <a:gd name="adj" fmla="val 13333"/>
            </a:avLst>
          </a:prstGeom>
          <a:solidFill>
            <a:schemeClr val="tx1"/>
          </a:solidFill>
          <a:ln w="12700">
            <a:solidFill>
              <a:schemeClr val="tx1"/>
            </a:solidFill>
            <a:prstDash val="solid"/>
          </a:ln>
        </p:spPr>
      </p:sp>
      <p:sp>
        <p:nvSpPr>
          <p:cNvPr id="15" name="Text 11"/>
          <p:cNvSpPr txBox="1"/>
          <p:nvPr/>
        </p:nvSpPr>
        <p:spPr>
          <a:xfrm>
            <a:off x="4069080" y="3474720"/>
            <a:ext cx="2834640" cy="548640"/>
          </a:xfrm>
          <a:prstGeom prst="rect">
            <a:avLst/>
          </a:prstGeom>
          <a:noFill/>
          <a:ln/>
        </p:spPr>
        <p:txBody>
          <a:bodyPr wrap="square" lIns="0" tIns="0" rIns="0" bIns="0" rtlCol="0" anchor="ctr"/>
          <a:lstStyle/>
          <a:p>
            <a:pPr indent="0" marL="0">
              <a:buNone/>
            </a:pPr>
            <a:r>
              <a:rPr lang="en-US" sz="1400" dirty="0">
                <a:solidFill>
                  <a:schemeClr val="bg1"/>
                </a:solidFill>
              </a:rPr>
              <a:t>Background jobs · realtime</a:t>
            </a:r>
            <a:endParaRPr lang="en-US" sz="1400" dirty="0"/>
          </a:p>
        </p:txBody>
      </p:sp>
      <p:sp>
        <p:nvSpPr>
          <p:cNvPr id="16" name="convex part 2"/>
          <p:cNvSpPr/>
          <p:nvPr/>
        </p:nvSpPr>
        <p:spPr>
          <a:xfrm>
            <a:off x="3886200" y="4160520"/>
            <a:ext cx="3200400" cy="548640"/>
          </a:xfrm>
          <a:prstGeom prst="roundRect">
            <a:avLst>
              <a:gd name="adj" fmla="val 13333"/>
            </a:avLst>
          </a:prstGeom>
          <a:solidFill>
            <a:schemeClr val="tx1"/>
          </a:solidFill>
          <a:ln w="12700">
            <a:solidFill>
              <a:schemeClr val="tx1"/>
            </a:solidFill>
            <a:prstDash val="solid"/>
          </a:ln>
        </p:spPr>
      </p:sp>
      <p:sp>
        <p:nvSpPr>
          <p:cNvPr id="17" name="Text 13"/>
          <p:cNvSpPr txBox="1"/>
          <p:nvPr/>
        </p:nvSpPr>
        <p:spPr>
          <a:xfrm>
            <a:off x="4069080" y="4160520"/>
            <a:ext cx="2834640" cy="548640"/>
          </a:xfrm>
          <a:prstGeom prst="rect">
            <a:avLst/>
          </a:prstGeom>
          <a:noFill/>
          <a:ln/>
        </p:spPr>
        <p:txBody>
          <a:bodyPr wrap="square" lIns="0" tIns="0" rIns="0" bIns="0" rtlCol="0" anchor="ctr"/>
          <a:lstStyle/>
          <a:p>
            <a:pPr indent="0" marL="0">
              <a:buNone/>
            </a:pPr>
            <a:r>
              <a:rPr lang="en-US" sz="1400" dirty="0">
                <a:solidFill>
                  <a:schemeClr val="bg1"/>
                </a:solidFill>
              </a:rPr>
              <a:t>Stats engine (baseline, interval, OLS)</a:t>
            </a:r>
            <a:endParaRPr lang="en-US" sz="1400" dirty="0"/>
          </a:p>
        </p:txBody>
      </p:sp>
      <p:sp>
        <p:nvSpPr>
          <p:cNvPr id="18" name="convex part 3"/>
          <p:cNvSpPr/>
          <p:nvPr/>
        </p:nvSpPr>
        <p:spPr>
          <a:xfrm>
            <a:off x="3886200" y="4846320"/>
            <a:ext cx="3200400" cy="548640"/>
          </a:xfrm>
          <a:prstGeom prst="roundRect">
            <a:avLst>
              <a:gd name="adj" fmla="val 13333"/>
            </a:avLst>
          </a:prstGeom>
          <a:solidFill>
            <a:schemeClr val="tx1"/>
          </a:solidFill>
          <a:ln w="12700">
            <a:solidFill>
              <a:schemeClr val="tx1"/>
            </a:solidFill>
            <a:prstDash val="solid"/>
          </a:ln>
        </p:spPr>
      </p:sp>
      <p:sp>
        <p:nvSpPr>
          <p:cNvPr id="19" name="Text 15"/>
          <p:cNvSpPr txBox="1"/>
          <p:nvPr/>
        </p:nvSpPr>
        <p:spPr>
          <a:xfrm>
            <a:off x="4069080" y="4846320"/>
            <a:ext cx="2834640" cy="548640"/>
          </a:xfrm>
          <a:prstGeom prst="rect">
            <a:avLst/>
          </a:prstGeom>
          <a:noFill/>
          <a:ln/>
        </p:spPr>
        <p:txBody>
          <a:bodyPr wrap="square" lIns="0" tIns="0" rIns="0" bIns="0" rtlCol="0" anchor="ctr"/>
          <a:lstStyle/>
          <a:p>
            <a:pPr indent="0" marL="0">
              <a:buNone/>
            </a:pPr>
            <a:r>
              <a:rPr lang="en-US" sz="1400" dirty="0">
                <a:solidFill>
                  <a:schemeClr val="bg1"/>
                </a:solidFill>
              </a:rPr>
              <a:t>Claim ledger + verifier</a:t>
            </a:r>
            <a:endParaRPr lang="en-US" sz="1400" dirty="0"/>
          </a:p>
        </p:txBody>
      </p:sp>
      <p:sp>
        <p:nvSpPr>
          <p:cNvPr id="20" name="NVIDIA Nemotron box"/>
          <p:cNvSpPr/>
          <p:nvPr/>
        </p:nvSpPr>
        <p:spPr>
          <a:xfrm>
            <a:off x="7818120" y="1783080"/>
            <a:ext cx="3824935" cy="1188720"/>
          </a:xfrm>
          <a:prstGeom prst="roundRect">
            <a:avLst>
              <a:gd name="adj" fmla="val 9231"/>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21" name="NVIDIA Nemotron badge"/>
          <p:cNvSpPr/>
          <p:nvPr/>
        </p:nvSpPr>
        <p:spPr>
          <a:xfrm>
            <a:off x="8046720" y="2084832"/>
            <a:ext cx="566928" cy="566928"/>
          </a:xfrm>
          <a:prstGeom prst="ellipse">
            <a:avLst/>
          </a:prstGeom>
          <a:solidFill>
            <a:schemeClr val="accent3">
              <a:alpha val="18000"/>
            </a:schemeClr>
          </a:solidFill>
          <a:ln w="12700">
            <a:solidFill>
              <a:schemeClr val="accent3"/>
            </a:solidFill>
            <a:prstDash val="solid"/>
          </a:ln>
        </p:spPr>
      </p:sp>
      <p:pic>
        <p:nvPicPr>
          <p:cNvPr id="22" name="NVIDIA Nemotron" descr="preencoded.png">    </p:cNvPr>
          <p:cNvPicPr>
            <a:picLocks noChangeAspect="1"/>
          </p:cNvPicPr>
          <p:nvPr/>
        </p:nvPicPr>
        <p:blipFill>
          <a:blip r:embed="rId3"/>
          <a:stretch>
            <a:fillRect/>
          </a:stretch>
        </p:blipFill>
        <p:spPr>
          <a:xfrm>
            <a:off x="8188452" y="2226564"/>
            <a:ext cx="283464" cy="283464"/>
          </a:xfrm>
          <a:prstGeom prst="rect">
            <a:avLst/>
          </a:prstGeom>
        </p:spPr>
      </p:pic>
      <p:sp>
        <p:nvSpPr>
          <p:cNvPr id="23" name="Text 18"/>
          <p:cNvSpPr txBox="1"/>
          <p:nvPr/>
        </p:nvSpPr>
        <p:spPr>
          <a:xfrm>
            <a:off x="8778240" y="1783080"/>
            <a:ext cx="2727655" cy="1188720"/>
          </a:xfrm>
          <a:prstGeom prst="rect">
            <a:avLst/>
          </a:prstGeom>
          <a:noFill/>
          <a:ln/>
        </p:spPr>
        <p:txBody>
          <a:bodyPr wrap="square" lIns="0" tIns="0" rIns="0" bIns="0" rtlCol="0" anchor="ctr"/>
          <a:lstStyle/>
          <a:p>
            <a:pPr indent="0" marL="0">
              <a:buNone/>
            </a:pPr>
            <a:r>
              <a:rPr lang="en-US" sz="1700" b="1" dirty="0">
                <a:solidFill>
                  <a:schemeClr val="bg1"/>
                </a:solidFill>
              </a:rPr>
              <a:t>NVIDIA Nemotron</a:t>
            </a:r>
            <a:endParaRPr lang="en-US" sz="1700" dirty="0"/>
          </a:p>
          <a:p>
            <a:pPr indent="0" marL="0">
              <a:buNone/>
            </a:pPr>
            <a:r>
              <a:rPr lang="en-US" sz="1300" dirty="0">
                <a:solidFill>
                  <a:schemeClr val="bg2"/>
                </a:solidFill>
              </a:rPr>
              <a:t>Narration via NIM (live)</a:t>
            </a:r>
            <a:endParaRPr lang="en-US" sz="1700" dirty="0"/>
          </a:p>
        </p:txBody>
      </p:sp>
      <p:sp>
        <p:nvSpPr>
          <p:cNvPr id="24" name="Meterless H-MEM box"/>
          <p:cNvSpPr/>
          <p:nvPr/>
        </p:nvSpPr>
        <p:spPr>
          <a:xfrm>
            <a:off x="7818120" y="3154680"/>
            <a:ext cx="3824935" cy="1188720"/>
          </a:xfrm>
          <a:prstGeom prst="roundRect">
            <a:avLst>
              <a:gd name="adj" fmla="val 9231"/>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25" name="Meterless H-MEM badge"/>
          <p:cNvSpPr/>
          <p:nvPr/>
        </p:nvSpPr>
        <p:spPr>
          <a:xfrm>
            <a:off x="8046720" y="3456432"/>
            <a:ext cx="566928" cy="566928"/>
          </a:xfrm>
          <a:prstGeom prst="ellipse">
            <a:avLst/>
          </a:prstGeom>
          <a:solidFill>
            <a:schemeClr val="accent5">
              <a:alpha val="18000"/>
            </a:schemeClr>
          </a:solidFill>
          <a:ln w="12700">
            <a:solidFill>
              <a:schemeClr val="accent5"/>
            </a:solidFill>
            <a:prstDash val="solid"/>
          </a:ln>
        </p:spPr>
      </p:sp>
      <p:pic>
        <p:nvPicPr>
          <p:cNvPr id="26" name="Meterless H-MEM" descr="preencoded.png">    </p:cNvPr>
          <p:cNvPicPr>
            <a:picLocks noChangeAspect="1"/>
          </p:cNvPicPr>
          <p:nvPr/>
        </p:nvPicPr>
        <p:blipFill>
          <a:blip r:embed="rId4"/>
          <a:stretch>
            <a:fillRect/>
          </a:stretch>
        </p:blipFill>
        <p:spPr>
          <a:xfrm>
            <a:off x="8188452" y="3598164"/>
            <a:ext cx="283464" cy="283464"/>
          </a:xfrm>
          <a:prstGeom prst="rect">
            <a:avLst/>
          </a:prstGeom>
        </p:spPr>
      </p:pic>
      <p:sp>
        <p:nvSpPr>
          <p:cNvPr id="27" name="Text 21"/>
          <p:cNvSpPr txBox="1"/>
          <p:nvPr/>
        </p:nvSpPr>
        <p:spPr>
          <a:xfrm>
            <a:off x="8778240" y="3154680"/>
            <a:ext cx="2727655" cy="1188720"/>
          </a:xfrm>
          <a:prstGeom prst="rect">
            <a:avLst/>
          </a:prstGeom>
          <a:noFill/>
          <a:ln/>
        </p:spPr>
        <p:txBody>
          <a:bodyPr wrap="square" lIns="0" tIns="0" rIns="0" bIns="0" rtlCol="0" anchor="ctr"/>
          <a:lstStyle/>
          <a:p>
            <a:pPr indent="0" marL="0">
              <a:buNone/>
            </a:pPr>
            <a:r>
              <a:rPr lang="en-US" sz="1700" b="1" dirty="0">
                <a:solidFill>
                  <a:schemeClr val="bg1"/>
                </a:solidFill>
              </a:rPr>
              <a:t>Meterless H-MEM</a:t>
            </a:r>
            <a:endParaRPr lang="en-US" sz="1700" dirty="0"/>
          </a:p>
          <a:p>
            <a:pPr indent="0" marL="0">
              <a:buNone/>
            </a:pPr>
            <a:r>
              <a:rPr lang="en-US" sz="1300" dirty="0">
                <a:solidFill>
                  <a:schemeClr val="bg2"/>
                </a:solidFill>
              </a:rPr>
              <a:t>Durable memory engine</a:t>
            </a:r>
            <a:endParaRPr lang="en-US" sz="1700" dirty="0"/>
          </a:p>
        </p:txBody>
      </p:sp>
      <p:sp>
        <p:nvSpPr>
          <p:cNvPr id="28" name="Zetaris box"/>
          <p:cNvSpPr/>
          <p:nvPr/>
        </p:nvSpPr>
        <p:spPr>
          <a:xfrm>
            <a:off x="7818120" y="4526280"/>
            <a:ext cx="3824935" cy="1188720"/>
          </a:xfrm>
          <a:prstGeom prst="roundRect">
            <a:avLst>
              <a:gd name="adj" fmla="val 9231"/>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29" name="Zetaris badge"/>
          <p:cNvSpPr/>
          <p:nvPr/>
        </p:nvSpPr>
        <p:spPr>
          <a:xfrm>
            <a:off x="8046720" y="4828032"/>
            <a:ext cx="566928" cy="566928"/>
          </a:xfrm>
          <a:prstGeom prst="ellipse">
            <a:avLst/>
          </a:prstGeom>
          <a:solidFill>
            <a:schemeClr val="accent4">
              <a:alpha val="18000"/>
            </a:schemeClr>
          </a:solidFill>
          <a:ln w="12700">
            <a:solidFill>
              <a:schemeClr val="accent4"/>
            </a:solidFill>
            <a:prstDash val="solid"/>
          </a:ln>
        </p:spPr>
      </p:sp>
      <p:pic>
        <p:nvPicPr>
          <p:cNvPr id="30" name="Zetaris" descr="preencoded.png">    </p:cNvPr>
          <p:cNvPicPr>
            <a:picLocks noChangeAspect="1"/>
          </p:cNvPicPr>
          <p:nvPr/>
        </p:nvPicPr>
        <p:blipFill>
          <a:blip r:embed="rId5"/>
          <a:stretch>
            <a:fillRect/>
          </a:stretch>
        </p:blipFill>
        <p:spPr>
          <a:xfrm>
            <a:off x="8188452" y="4969764"/>
            <a:ext cx="283464" cy="283464"/>
          </a:xfrm>
          <a:prstGeom prst="rect">
            <a:avLst/>
          </a:prstGeom>
        </p:spPr>
      </p:pic>
      <p:sp>
        <p:nvSpPr>
          <p:cNvPr id="31" name="Text 24"/>
          <p:cNvSpPr txBox="1"/>
          <p:nvPr/>
        </p:nvSpPr>
        <p:spPr>
          <a:xfrm>
            <a:off x="8778240" y="4526280"/>
            <a:ext cx="2727655" cy="1188720"/>
          </a:xfrm>
          <a:prstGeom prst="rect">
            <a:avLst/>
          </a:prstGeom>
          <a:noFill/>
          <a:ln/>
        </p:spPr>
        <p:txBody>
          <a:bodyPr wrap="square" lIns="0" tIns="0" rIns="0" bIns="0" rtlCol="0" anchor="ctr"/>
          <a:lstStyle/>
          <a:p>
            <a:pPr indent="0" marL="0">
              <a:buNone/>
            </a:pPr>
            <a:r>
              <a:rPr lang="en-US" sz="1700" b="1" dirty="0">
                <a:solidFill>
                  <a:schemeClr val="bg1"/>
                </a:solidFill>
              </a:rPr>
              <a:t>Zetaris</a:t>
            </a:r>
            <a:endParaRPr lang="en-US" sz="1700" dirty="0"/>
          </a:p>
          <a:p>
            <a:pPr indent="0" marL="0">
              <a:buNone/>
            </a:pPr>
            <a:r>
              <a:rPr lang="en-US" sz="1300" dirty="0">
                <a:solidFill>
                  <a:schemeClr val="bg2"/>
                </a:solidFill>
              </a:rPr>
              <a:t>Federated SQL (when configured)</a:t>
            </a:r>
            <a:endParaRPr lang="en-US" sz="1700" dirty="0"/>
          </a:p>
        </p:txBody>
      </p:sp>
      <p:sp>
        <p:nvSpPr>
          <p:cNvPr id="32" name="client-convex link"/>
          <p:cNvSpPr/>
          <p:nvPr/>
        </p:nvSpPr>
        <p:spPr>
          <a:xfrm>
            <a:off x="3063240" y="3794760"/>
            <a:ext cx="548640" cy="0"/>
          </a:xfrm>
          <a:prstGeom prst="line">
            <a:avLst/>
          </a:prstGeom>
          <a:noFill/>
          <a:ln w="19050">
            <a:solidFill>
              <a:schemeClr val="accent1"/>
            </a:solidFill>
            <a:prstDash val="solid"/>
            <a:headEnd type="triangle"/>
            <a:tailEnd type="triangle"/>
          </a:ln>
        </p:spPr>
      </p:sp>
      <p:sp>
        <p:nvSpPr>
          <p:cNvPr id="33" name="convex-integrations link"/>
          <p:cNvSpPr/>
          <p:nvPr/>
        </p:nvSpPr>
        <p:spPr>
          <a:xfrm>
            <a:off x="7360920" y="3794760"/>
            <a:ext cx="457200" cy="0"/>
          </a:xfrm>
          <a:prstGeom prst="line">
            <a:avLst/>
          </a:prstGeom>
          <a:noFill/>
          <a:ln w="19050">
            <a:solidFill>
              <a:schemeClr val="accent1"/>
            </a:solidFill>
            <a:prstDash val="solid"/>
            <a:tailEnd type="triangle"/>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SPONSOR TECHNOLOGY</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Each sponsor does real, distinct work</a:t>
            </a:r>
            <a:endParaRPr lang="en-US" sz="3600" dirty="0"/>
          </a:p>
        </p:txBody>
      </p:sp>
      <p:sp>
        <p:nvSpPr>
          <p:cNvPr id="4" name="NVIDIA Nemotron card"/>
          <p:cNvSpPr/>
          <p:nvPr/>
        </p:nvSpPr>
        <p:spPr>
          <a:xfrm>
            <a:off x="548640" y="1783080"/>
            <a:ext cx="3520440" cy="4251960"/>
          </a:xfrm>
          <a:prstGeom prst="roundRect">
            <a:avLst>
              <a:gd name="adj" fmla="val 3117"/>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5" name="NVIDIA Nemotron badge"/>
          <p:cNvSpPr/>
          <p:nvPr/>
        </p:nvSpPr>
        <p:spPr>
          <a:xfrm>
            <a:off x="868680" y="2103120"/>
            <a:ext cx="658368" cy="658368"/>
          </a:xfrm>
          <a:prstGeom prst="ellipse">
            <a:avLst/>
          </a:prstGeom>
          <a:solidFill>
            <a:schemeClr val="accent3">
              <a:alpha val="18000"/>
            </a:schemeClr>
          </a:solidFill>
          <a:ln w="12700">
            <a:solidFill>
              <a:schemeClr val="accent3"/>
            </a:solidFill>
            <a:prstDash val="solid"/>
          </a:ln>
        </p:spPr>
      </p:sp>
      <p:pic>
        <p:nvPicPr>
          <p:cNvPr id="6" name="NVIDIA Nemotron" descr="preencoded.png">    </p:cNvPr>
          <p:cNvPicPr>
            <a:picLocks noChangeAspect="1"/>
          </p:cNvPicPr>
          <p:nvPr/>
        </p:nvPicPr>
        <p:blipFill>
          <a:blip r:embed="rId1"/>
          <a:stretch>
            <a:fillRect/>
          </a:stretch>
        </p:blipFill>
        <p:spPr>
          <a:xfrm>
            <a:off x="1033272" y="2267712"/>
            <a:ext cx="329184" cy="329184"/>
          </a:xfrm>
          <a:prstGeom prst="rect">
            <a:avLst/>
          </a:prstGeom>
        </p:spPr>
      </p:pic>
      <p:sp>
        <p:nvSpPr>
          <p:cNvPr id="7" name="Text 4"/>
          <p:cNvSpPr txBox="1"/>
          <p:nvPr/>
        </p:nvSpPr>
        <p:spPr>
          <a:xfrm>
            <a:off x="868680" y="2926080"/>
            <a:ext cx="2880360" cy="411480"/>
          </a:xfrm>
          <a:prstGeom prst="rect">
            <a:avLst/>
          </a:prstGeom>
          <a:noFill/>
          <a:ln/>
        </p:spPr>
        <p:txBody>
          <a:bodyPr wrap="square" lIns="0" tIns="0" rIns="0" bIns="0" rtlCol="0" anchor="ctr"/>
          <a:lstStyle/>
          <a:p>
            <a:pPr indent="0" marL="0">
              <a:buNone/>
            </a:pPr>
            <a:r>
              <a:rPr lang="en-US" sz="2200" b="1" dirty="0">
                <a:solidFill>
                  <a:schemeClr val="bg1"/>
                </a:solidFill>
              </a:rPr>
              <a:t>NVIDIA Nemotron</a:t>
            </a:r>
            <a:endParaRPr lang="en-US" sz="2200" dirty="0"/>
          </a:p>
        </p:txBody>
      </p:sp>
      <p:sp>
        <p:nvSpPr>
          <p:cNvPr id="8" name="Text 5"/>
          <p:cNvSpPr txBox="1"/>
          <p:nvPr/>
        </p:nvSpPr>
        <p:spPr>
          <a:xfrm>
            <a:off x="868680" y="3355848"/>
            <a:ext cx="2880360" cy="320040"/>
          </a:xfrm>
          <a:prstGeom prst="rect">
            <a:avLst/>
          </a:prstGeom>
          <a:noFill/>
          <a:ln/>
        </p:spPr>
        <p:txBody>
          <a:bodyPr wrap="square" lIns="0" tIns="0" rIns="0" bIns="0" rtlCol="0" anchor="ctr"/>
          <a:lstStyle/>
          <a:p>
            <a:pPr indent="0" marL="0">
              <a:buNone/>
            </a:pPr>
            <a:r>
              <a:rPr lang="en-US" sz="1300" b="1" dirty="0">
                <a:solidFill>
                  <a:schemeClr val="accent3"/>
                </a:solidFill>
              </a:rPr>
              <a:t>Live in production</a:t>
            </a:r>
            <a:endParaRPr lang="en-US" sz="1300" dirty="0"/>
          </a:p>
        </p:txBody>
      </p:sp>
      <p:sp>
        <p:nvSpPr>
          <p:cNvPr id="9" name="Text 6"/>
          <p:cNvSpPr txBox="1"/>
          <p:nvPr/>
        </p:nvSpPr>
        <p:spPr>
          <a:xfrm>
            <a:off x="868680" y="3749040"/>
            <a:ext cx="2880360" cy="1691640"/>
          </a:xfrm>
          <a:prstGeom prst="rect">
            <a:avLst/>
          </a:prstGeom>
          <a:noFill/>
          <a:ln/>
        </p:spPr>
        <p:txBody>
          <a:bodyPr wrap="square" lIns="0" tIns="0" rIns="0" bIns="0" rtlCol="0" anchor="t"/>
          <a:lstStyle/>
          <a:p>
            <a:pPr indent="0" marL="0">
              <a:buNone/>
            </a:pPr>
            <a:r>
              <a:rPr lang="en-US" sz="1400" dirty="0">
                <a:solidFill>
                  <a:schemeClr val="bg2"/>
                </a:solidFill>
              </a:rPr>
              <a:t>nemotron-3-ultra via NIM writes every verdict narrative. It receives computed summaries only — never raw rows — and its output is number-checked against the claim ledger.</a:t>
            </a:r>
            <a:endParaRPr lang="en-US" sz="1400" dirty="0"/>
          </a:p>
        </p:txBody>
      </p:sp>
      <p:sp>
        <p:nvSpPr>
          <p:cNvPr id="10" name="Text 7"/>
          <p:cNvSpPr txBox="1"/>
          <p:nvPr/>
        </p:nvSpPr>
        <p:spPr>
          <a:xfrm>
            <a:off x="868680" y="5532120"/>
            <a:ext cx="2880360" cy="320040"/>
          </a:xfrm>
          <a:prstGeom prst="rect">
            <a:avLst/>
          </a:prstGeom>
          <a:noFill/>
          <a:ln/>
        </p:spPr>
        <p:txBody>
          <a:bodyPr wrap="square" lIns="0" tIns="0" rIns="0" bIns="0" rtlCol="0" anchor="ctr"/>
          <a:lstStyle/>
          <a:p>
            <a:pPr indent="0" marL="0">
              <a:buNone/>
            </a:pPr>
            <a:r>
              <a:rPr lang="en-US" sz="1100" dirty="0">
                <a:solidFill>
                  <a:schemeClr val="bg1"/>
                </a:solidFill>
                <a:latin typeface="Consolas" pitchFamily="34" charset="0"/>
                <a:ea typeface="Consolas" pitchFamily="34" charset="-122"/>
                <a:cs typeface="Consolas" pitchFamily="34" charset="-120"/>
              </a:rPr>
              <a:t>convex/lib/llm.ts</a:t>
            </a:r>
            <a:endParaRPr lang="en-US" sz="1100" dirty="0"/>
          </a:p>
        </p:txBody>
      </p:sp>
      <p:sp>
        <p:nvSpPr>
          <p:cNvPr id="11" name="Meterless H-MEM card"/>
          <p:cNvSpPr/>
          <p:nvPr/>
        </p:nvSpPr>
        <p:spPr>
          <a:xfrm>
            <a:off x="4407408" y="1783080"/>
            <a:ext cx="3520440" cy="4251960"/>
          </a:xfrm>
          <a:prstGeom prst="roundRect">
            <a:avLst>
              <a:gd name="adj" fmla="val 3117"/>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2" name="Meterless H-MEM badge"/>
          <p:cNvSpPr/>
          <p:nvPr/>
        </p:nvSpPr>
        <p:spPr>
          <a:xfrm>
            <a:off x="4727448" y="2103120"/>
            <a:ext cx="658368" cy="658368"/>
          </a:xfrm>
          <a:prstGeom prst="ellipse">
            <a:avLst/>
          </a:prstGeom>
          <a:solidFill>
            <a:schemeClr val="accent5">
              <a:alpha val="18000"/>
            </a:schemeClr>
          </a:solidFill>
          <a:ln w="12700">
            <a:solidFill>
              <a:schemeClr val="accent5"/>
            </a:solidFill>
            <a:prstDash val="solid"/>
          </a:ln>
        </p:spPr>
      </p:sp>
      <p:pic>
        <p:nvPicPr>
          <p:cNvPr id="13" name="Meterless H-MEM" descr="preencoded.png">    </p:cNvPr>
          <p:cNvPicPr>
            <a:picLocks noChangeAspect="1"/>
          </p:cNvPicPr>
          <p:nvPr/>
        </p:nvPicPr>
        <p:blipFill>
          <a:blip r:embed="rId2"/>
          <a:stretch>
            <a:fillRect/>
          </a:stretch>
        </p:blipFill>
        <p:spPr>
          <a:xfrm>
            <a:off x="4892040" y="2267712"/>
            <a:ext cx="329184" cy="329184"/>
          </a:xfrm>
          <a:prstGeom prst="rect">
            <a:avLst/>
          </a:prstGeom>
        </p:spPr>
      </p:pic>
      <p:sp>
        <p:nvSpPr>
          <p:cNvPr id="14" name="Text 10"/>
          <p:cNvSpPr txBox="1"/>
          <p:nvPr/>
        </p:nvSpPr>
        <p:spPr>
          <a:xfrm>
            <a:off x="4727448" y="2926080"/>
            <a:ext cx="2880360" cy="411480"/>
          </a:xfrm>
          <a:prstGeom prst="rect">
            <a:avLst/>
          </a:prstGeom>
          <a:noFill/>
          <a:ln/>
        </p:spPr>
        <p:txBody>
          <a:bodyPr wrap="square" lIns="0" tIns="0" rIns="0" bIns="0" rtlCol="0" anchor="ctr"/>
          <a:lstStyle/>
          <a:p>
            <a:pPr indent="0" marL="0">
              <a:buNone/>
            </a:pPr>
            <a:r>
              <a:rPr lang="en-US" sz="2200" b="1" dirty="0">
                <a:solidFill>
                  <a:schemeClr val="bg1"/>
                </a:solidFill>
              </a:rPr>
              <a:t>Meterless H-MEM</a:t>
            </a:r>
            <a:endParaRPr lang="en-US" sz="2200" dirty="0"/>
          </a:p>
        </p:txBody>
      </p:sp>
      <p:sp>
        <p:nvSpPr>
          <p:cNvPr id="15" name="Text 11"/>
          <p:cNvSpPr txBox="1"/>
          <p:nvPr/>
        </p:nvSpPr>
        <p:spPr>
          <a:xfrm>
            <a:off x="4727448" y="3355848"/>
            <a:ext cx="2880360" cy="320040"/>
          </a:xfrm>
          <a:prstGeom prst="rect">
            <a:avLst/>
          </a:prstGeom>
          <a:noFill/>
          <a:ln/>
        </p:spPr>
        <p:txBody>
          <a:bodyPr wrap="square" lIns="0" tIns="0" rIns="0" bIns="0" rtlCol="0" anchor="ctr"/>
          <a:lstStyle/>
          <a:p>
            <a:pPr indent="0" marL="0">
              <a:buNone/>
            </a:pPr>
            <a:r>
              <a:rPr lang="en-US" sz="1300" b="1" dirty="0">
                <a:solidFill>
                  <a:schemeClr val="accent5"/>
                </a:solidFill>
              </a:rPr>
              <a:t>Built into the product</a:t>
            </a:r>
            <a:endParaRPr lang="en-US" sz="1300" dirty="0"/>
          </a:p>
        </p:txBody>
      </p:sp>
      <p:sp>
        <p:nvSpPr>
          <p:cNvPr id="16" name="Text 12"/>
          <p:cNvSpPr txBox="1"/>
          <p:nvPr/>
        </p:nvSpPr>
        <p:spPr>
          <a:xfrm>
            <a:off x="4727448" y="3749040"/>
            <a:ext cx="2880360" cy="1691640"/>
          </a:xfrm>
          <a:prstGeom prst="rect">
            <a:avLst/>
          </a:prstGeom>
          <a:noFill/>
          <a:ln/>
        </p:spPr>
        <p:txBody>
          <a:bodyPr wrap="square" lIns="0" tIns="0" rIns="0" bIns="0" rtlCol="0" anchor="t"/>
          <a:lstStyle/>
          <a:p>
            <a:pPr indent="0" marL="0">
              <a:buNone/>
            </a:pPr>
            <a:r>
              <a:rPr lang="en-US" sz="1400" dirty="0">
                <a:solidFill>
                  <a:schemeClr val="bg2"/>
                </a:solidFill>
              </a:rPr>
              <a:t>The H-MEM memory engine — eight-signal hybrid ranker, trust ledger, feedback — mines durable facts from each run and recalls them into the next. Digit-stripped so memory can't inject numbers.</a:t>
            </a:r>
            <a:endParaRPr lang="en-US" sz="1400" dirty="0"/>
          </a:p>
        </p:txBody>
      </p:sp>
      <p:sp>
        <p:nvSpPr>
          <p:cNvPr id="17" name="Text 13"/>
          <p:cNvSpPr txBox="1"/>
          <p:nvPr/>
        </p:nvSpPr>
        <p:spPr>
          <a:xfrm>
            <a:off x="4727448" y="5532120"/>
            <a:ext cx="2880360" cy="320040"/>
          </a:xfrm>
          <a:prstGeom prst="rect">
            <a:avLst/>
          </a:prstGeom>
          <a:noFill/>
          <a:ln/>
        </p:spPr>
        <p:txBody>
          <a:bodyPr wrap="square" lIns="0" tIns="0" rIns="0" bIns="0" rtlCol="0" anchor="ctr"/>
          <a:lstStyle/>
          <a:p>
            <a:pPr indent="0" marL="0">
              <a:buNone/>
            </a:pPr>
            <a:r>
              <a:rPr lang="en-US" sz="1100" dirty="0">
                <a:solidFill>
                  <a:schemeClr val="bg1"/>
                </a:solidFill>
                <a:latin typeface="Consolas" pitchFamily="34" charset="0"/>
                <a:ea typeface="Consolas" pitchFamily="34" charset="-122"/>
                <a:cs typeface="Consolas" pitchFamily="34" charset="-120"/>
              </a:rPr>
              <a:t>convex/lib/hmem.ts · memories.ts</a:t>
            </a:r>
            <a:endParaRPr lang="en-US" sz="1100" dirty="0"/>
          </a:p>
        </p:txBody>
      </p:sp>
      <p:sp>
        <p:nvSpPr>
          <p:cNvPr id="18" name="Zetaris card"/>
          <p:cNvSpPr/>
          <p:nvPr/>
        </p:nvSpPr>
        <p:spPr>
          <a:xfrm>
            <a:off x="8266176" y="1783080"/>
            <a:ext cx="3520440" cy="4251960"/>
          </a:xfrm>
          <a:prstGeom prst="roundRect">
            <a:avLst>
              <a:gd name="adj" fmla="val 3117"/>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9" name="Zetaris badge"/>
          <p:cNvSpPr/>
          <p:nvPr/>
        </p:nvSpPr>
        <p:spPr>
          <a:xfrm>
            <a:off x="8586216" y="2103120"/>
            <a:ext cx="658368" cy="658368"/>
          </a:xfrm>
          <a:prstGeom prst="ellipse">
            <a:avLst/>
          </a:prstGeom>
          <a:solidFill>
            <a:schemeClr val="accent4">
              <a:alpha val="18000"/>
            </a:schemeClr>
          </a:solidFill>
          <a:ln w="12700">
            <a:solidFill>
              <a:schemeClr val="accent4"/>
            </a:solidFill>
            <a:prstDash val="solid"/>
          </a:ln>
        </p:spPr>
      </p:sp>
      <p:pic>
        <p:nvPicPr>
          <p:cNvPr id="20" name="Zetaris" descr="preencoded.png">    </p:cNvPr>
          <p:cNvPicPr>
            <a:picLocks noChangeAspect="1"/>
          </p:cNvPicPr>
          <p:nvPr/>
        </p:nvPicPr>
        <p:blipFill>
          <a:blip r:embed="rId3"/>
          <a:stretch>
            <a:fillRect/>
          </a:stretch>
        </p:blipFill>
        <p:spPr>
          <a:xfrm>
            <a:off x="8750808" y="2267712"/>
            <a:ext cx="329184" cy="329184"/>
          </a:xfrm>
          <a:prstGeom prst="rect">
            <a:avLst/>
          </a:prstGeom>
        </p:spPr>
      </p:pic>
      <p:sp>
        <p:nvSpPr>
          <p:cNvPr id="21" name="Text 16"/>
          <p:cNvSpPr txBox="1"/>
          <p:nvPr/>
        </p:nvSpPr>
        <p:spPr>
          <a:xfrm>
            <a:off x="8586216" y="2926080"/>
            <a:ext cx="2880360" cy="411480"/>
          </a:xfrm>
          <a:prstGeom prst="rect">
            <a:avLst/>
          </a:prstGeom>
          <a:noFill/>
          <a:ln/>
        </p:spPr>
        <p:txBody>
          <a:bodyPr wrap="square" lIns="0" tIns="0" rIns="0" bIns="0" rtlCol="0" anchor="ctr"/>
          <a:lstStyle/>
          <a:p>
            <a:pPr indent="0" marL="0">
              <a:buNone/>
            </a:pPr>
            <a:r>
              <a:rPr lang="en-US" sz="2200" b="1" dirty="0">
                <a:solidFill>
                  <a:schemeClr val="bg1"/>
                </a:solidFill>
              </a:rPr>
              <a:t>Zetaris</a:t>
            </a:r>
            <a:endParaRPr lang="en-US" sz="2200" dirty="0"/>
          </a:p>
        </p:txBody>
      </p:sp>
      <p:sp>
        <p:nvSpPr>
          <p:cNvPr id="22" name="Text 17"/>
          <p:cNvSpPr txBox="1"/>
          <p:nvPr/>
        </p:nvSpPr>
        <p:spPr>
          <a:xfrm>
            <a:off x="8586216" y="3355848"/>
            <a:ext cx="2880360" cy="320040"/>
          </a:xfrm>
          <a:prstGeom prst="rect">
            <a:avLst/>
          </a:prstGeom>
          <a:noFill/>
          <a:ln/>
        </p:spPr>
        <p:txBody>
          <a:bodyPr wrap="square" lIns="0" tIns="0" rIns="0" bIns="0" rtlCol="0" anchor="ctr"/>
          <a:lstStyle/>
          <a:p>
            <a:pPr indent="0" marL="0">
              <a:buNone/>
            </a:pPr>
            <a:r>
              <a:rPr lang="en-US" sz="1300" b="1" dirty="0">
                <a:solidFill>
                  <a:schemeClr val="accent4"/>
                </a:solidFill>
              </a:rPr>
              <a:t>Federated data harness</a:t>
            </a:r>
            <a:endParaRPr lang="en-US" sz="1300" dirty="0"/>
          </a:p>
        </p:txBody>
      </p:sp>
      <p:sp>
        <p:nvSpPr>
          <p:cNvPr id="23" name="Text 18"/>
          <p:cNvSpPr txBox="1"/>
          <p:nvPr/>
        </p:nvSpPr>
        <p:spPr>
          <a:xfrm>
            <a:off x="8586216" y="3749040"/>
            <a:ext cx="2880360" cy="1691640"/>
          </a:xfrm>
          <a:prstGeom prst="rect">
            <a:avLst/>
          </a:prstGeom>
          <a:noFill/>
          <a:ln/>
        </p:spPr>
        <p:txBody>
          <a:bodyPr wrap="square" lIns="0" tIns="0" rIns="0" bIns="0" rtlCol="0" anchor="t"/>
          <a:lstStyle/>
          <a:p>
            <a:pPr indent="0" marL="0">
              <a:buNone/>
            </a:pPr>
            <a:r>
              <a:rPr lang="en-US" sz="1400" dirty="0">
                <a:solidFill>
                  <a:schemeClr val="bg2"/>
                </a:solidFill>
              </a:rPr>
              <a:t>Kausa runs its per-day aggregate query through the Zetaris AI Data Harness where the data lives, with paging and auth. Falls back to the local store when not configured.</a:t>
            </a:r>
            <a:endParaRPr lang="en-US" sz="1400" dirty="0"/>
          </a:p>
        </p:txBody>
      </p:sp>
      <p:sp>
        <p:nvSpPr>
          <p:cNvPr id="24" name="Text 19"/>
          <p:cNvSpPr txBox="1"/>
          <p:nvPr/>
        </p:nvSpPr>
        <p:spPr>
          <a:xfrm>
            <a:off x="8586216" y="5532120"/>
            <a:ext cx="2880360" cy="320040"/>
          </a:xfrm>
          <a:prstGeom prst="rect">
            <a:avLst/>
          </a:prstGeom>
          <a:noFill/>
          <a:ln/>
        </p:spPr>
        <p:txBody>
          <a:bodyPr wrap="square" lIns="0" tIns="0" rIns="0" bIns="0" rtlCol="0" anchor="ctr"/>
          <a:lstStyle/>
          <a:p>
            <a:pPr indent="0" marL="0">
              <a:buNone/>
            </a:pPr>
            <a:r>
              <a:rPr lang="en-US" sz="1100" dirty="0">
                <a:solidFill>
                  <a:schemeClr val="bg1"/>
                </a:solidFill>
                <a:latin typeface="Consolas" pitchFamily="34" charset="0"/>
                <a:ea typeface="Consolas" pitchFamily="34" charset="-122"/>
                <a:cs typeface="Consolas" pitchFamily="34" charset="-120"/>
              </a:rPr>
              <a:t>convex/lib/zetaris.ts</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PROOF IT'S REAL</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Shipped, deployed and tested end to end</a:t>
            </a:r>
            <a:endParaRPr lang="en-US" sz="3600" dirty="0"/>
          </a:p>
        </p:txBody>
      </p:sp>
      <p:sp>
        <p:nvSpPr>
          <p:cNvPr id="4" name="end-to-end checks passing on the live site"/>
          <p:cNvSpPr/>
          <p:nvPr/>
        </p:nvSpPr>
        <p:spPr>
          <a:xfrm>
            <a:off x="548640" y="1874520"/>
            <a:ext cx="2606040" cy="2834640"/>
          </a:xfrm>
          <a:prstGeom prst="roundRect">
            <a:avLst>
              <a:gd name="adj" fmla="val 4211"/>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5" name="end-to-end checks passing on the live site badge"/>
          <p:cNvSpPr/>
          <p:nvPr/>
        </p:nvSpPr>
        <p:spPr>
          <a:xfrm>
            <a:off x="822960" y="2148840"/>
            <a:ext cx="530352" cy="530352"/>
          </a:xfrm>
          <a:prstGeom prst="ellipse">
            <a:avLst/>
          </a:prstGeom>
          <a:solidFill>
            <a:schemeClr val="accent3">
              <a:alpha val="18000"/>
            </a:schemeClr>
          </a:solidFill>
          <a:ln w="12700">
            <a:solidFill>
              <a:schemeClr val="accent3"/>
            </a:solidFill>
            <a:prstDash val="solid"/>
          </a:ln>
        </p:spPr>
      </p:sp>
      <p:pic>
        <p:nvPicPr>
          <p:cNvPr id="6" name="end-to-end checks passing on the live site" descr="preencoded.png">    </p:cNvPr>
          <p:cNvPicPr>
            <a:picLocks noChangeAspect="1"/>
          </p:cNvPicPr>
          <p:nvPr/>
        </p:nvPicPr>
        <p:blipFill>
          <a:blip r:embed="rId1"/>
          <a:stretch>
            <a:fillRect/>
          </a:stretch>
        </p:blipFill>
        <p:spPr>
          <a:xfrm>
            <a:off x="955548" y="2281428"/>
            <a:ext cx="265176" cy="265176"/>
          </a:xfrm>
          <a:prstGeom prst="rect">
            <a:avLst/>
          </a:prstGeom>
        </p:spPr>
      </p:pic>
      <p:sp>
        <p:nvSpPr>
          <p:cNvPr id="7" name="Text 4"/>
          <p:cNvSpPr txBox="1"/>
          <p:nvPr/>
        </p:nvSpPr>
        <p:spPr>
          <a:xfrm>
            <a:off x="822960" y="2834640"/>
            <a:ext cx="2057400" cy="868680"/>
          </a:xfrm>
          <a:prstGeom prst="rect">
            <a:avLst/>
          </a:prstGeom>
          <a:noFill/>
          <a:ln/>
        </p:spPr>
        <p:txBody>
          <a:bodyPr wrap="square" lIns="0" tIns="0" rIns="0" bIns="0" rtlCol="0" anchor="ctr"/>
          <a:lstStyle/>
          <a:p>
            <a:pPr indent="0" marL="0">
              <a:buNone/>
            </a:pPr>
            <a:r>
              <a:rPr lang="en-US" sz="4600" b="1" dirty="0">
                <a:solidFill>
                  <a:schemeClr val="accent3"/>
                </a:solidFill>
              </a:rPr>
              <a:t>13/13</a:t>
            </a:r>
            <a:endParaRPr lang="en-US" sz="4600" dirty="0"/>
          </a:p>
        </p:txBody>
      </p:sp>
      <p:sp>
        <p:nvSpPr>
          <p:cNvPr id="8" name="Text 5"/>
          <p:cNvSpPr txBox="1"/>
          <p:nvPr/>
        </p:nvSpPr>
        <p:spPr>
          <a:xfrm>
            <a:off x="822960" y="3703320"/>
            <a:ext cx="2057400" cy="868680"/>
          </a:xfrm>
          <a:prstGeom prst="rect">
            <a:avLst/>
          </a:prstGeom>
          <a:noFill/>
          <a:ln/>
        </p:spPr>
        <p:txBody>
          <a:bodyPr wrap="square" lIns="0" tIns="0" rIns="0" bIns="0" rtlCol="0" anchor="t"/>
          <a:lstStyle/>
          <a:p>
            <a:pPr indent="0" marL="0">
              <a:buNone/>
            </a:pPr>
            <a:r>
              <a:rPr lang="en-US" sz="1400" dirty="0">
                <a:solidFill>
                  <a:schemeClr val="bg2"/>
                </a:solidFill>
              </a:rPr>
              <a:t>end-to-end checks passing on the live site</a:t>
            </a:r>
            <a:endParaRPr lang="en-US" sz="1400" dirty="0"/>
          </a:p>
        </p:txBody>
      </p:sp>
      <p:sp>
        <p:nvSpPr>
          <p:cNvPr id="9" name="from question to verified verdict"/>
          <p:cNvSpPr/>
          <p:nvPr/>
        </p:nvSpPr>
        <p:spPr>
          <a:xfrm>
            <a:off x="3337560" y="1874520"/>
            <a:ext cx="2606040" cy="2834640"/>
          </a:xfrm>
          <a:prstGeom prst="roundRect">
            <a:avLst>
              <a:gd name="adj" fmla="val 4211"/>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0" name="from question to verified verdict badge"/>
          <p:cNvSpPr/>
          <p:nvPr/>
        </p:nvSpPr>
        <p:spPr>
          <a:xfrm>
            <a:off x="3611880" y="2148840"/>
            <a:ext cx="530352" cy="530352"/>
          </a:xfrm>
          <a:prstGeom prst="ellipse">
            <a:avLst/>
          </a:prstGeom>
          <a:solidFill>
            <a:schemeClr val="accent2">
              <a:alpha val="18000"/>
            </a:schemeClr>
          </a:solidFill>
          <a:ln w="12700">
            <a:solidFill>
              <a:schemeClr val="accent2"/>
            </a:solidFill>
            <a:prstDash val="solid"/>
          </a:ln>
        </p:spPr>
      </p:sp>
      <p:pic>
        <p:nvPicPr>
          <p:cNvPr id="11" name="from question to verified verdict" descr="preencoded.png">    </p:cNvPr>
          <p:cNvPicPr>
            <a:picLocks noChangeAspect="1"/>
          </p:cNvPicPr>
          <p:nvPr/>
        </p:nvPicPr>
        <p:blipFill>
          <a:blip r:embed="rId2"/>
          <a:stretch>
            <a:fillRect/>
          </a:stretch>
        </p:blipFill>
        <p:spPr>
          <a:xfrm>
            <a:off x="3744468" y="2281428"/>
            <a:ext cx="265176" cy="265176"/>
          </a:xfrm>
          <a:prstGeom prst="rect">
            <a:avLst/>
          </a:prstGeom>
        </p:spPr>
      </p:pic>
      <p:sp>
        <p:nvSpPr>
          <p:cNvPr id="12" name="Text 8"/>
          <p:cNvSpPr txBox="1"/>
          <p:nvPr/>
        </p:nvSpPr>
        <p:spPr>
          <a:xfrm>
            <a:off x="3611880" y="2834640"/>
            <a:ext cx="2057400" cy="868680"/>
          </a:xfrm>
          <a:prstGeom prst="rect">
            <a:avLst/>
          </a:prstGeom>
          <a:noFill/>
          <a:ln/>
        </p:spPr>
        <p:txBody>
          <a:bodyPr wrap="square" lIns="0" tIns="0" rIns="0" bIns="0" rtlCol="0" anchor="ctr"/>
          <a:lstStyle/>
          <a:p>
            <a:pPr indent="0" marL="0">
              <a:buNone/>
            </a:pPr>
            <a:r>
              <a:rPr lang="en-US" sz="4600" b="1" dirty="0">
                <a:solidFill>
                  <a:schemeClr val="accent2"/>
                </a:solidFill>
              </a:rPr>
              <a:t>19 s</a:t>
            </a:r>
            <a:endParaRPr lang="en-US" sz="4600" dirty="0"/>
          </a:p>
        </p:txBody>
      </p:sp>
      <p:sp>
        <p:nvSpPr>
          <p:cNvPr id="13" name="Text 9"/>
          <p:cNvSpPr txBox="1"/>
          <p:nvPr/>
        </p:nvSpPr>
        <p:spPr>
          <a:xfrm>
            <a:off x="3611880" y="3703320"/>
            <a:ext cx="2057400" cy="868680"/>
          </a:xfrm>
          <a:prstGeom prst="rect">
            <a:avLst/>
          </a:prstGeom>
          <a:noFill/>
          <a:ln/>
        </p:spPr>
        <p:txBody>
          <a:bodyPr wrap="square" lIns="0" tIns="0" rIns="0" bIns="0" rtlCol="0" anchor="t"/>
          <a:lstStyle/>
          <a:p>
            <a:pPr indent="0" marL="0">
              <a:buNone/>
            </a:pPr>
            <a:r>
              <a:rPr lang="en-US" sz="1400" dirty="0">
                <a:solidFill>
                  <a:schemeClr val="bg2"/>
                </a:solidFill>
              </a:rPr>
              <a:t>from question to verified verdict</a:t>
            </a:r>
            <a:endParaRPr lang="en-US" sz="1400" dirty="0"/>
          </a:p>
        </p:txBody>
      </p:sp>
      <p:sp>
        <p:nvSpPr>
          <p:cNvPr id="14" name="claims stored per run, each verified and inspectable"/>
          <p:cNvSpPr/>
          <p:nvPr/>
        </p:nvSpPr>
        <p:spPr>
          <a:xfrm>
            <a:off x="6126480" y="1874520"/>
            <a:ext cx="2606040" cy="2834640"/>
          </a:xfrm>
          <a:prstGeom prst="roundRect">
            <a:avLst>
              <a:gd name="adj" fmla="val 4211"/>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5" name="claims stored per run, each verified and inspectable badge"/>
          <p:cNvSpPr/>
          <p:nvPr/>
        </p:nvSpPr>
        <p:spPr>
          <a:xfrm>
            <a:off x="6400800" y="2148840"/>
            <a:ext cx="530352" cy="530352"/>
          </a:xfrm>
          <a:prstGeom prst="ellipse">
            <a:avLst/>
          </a:prstGeom>
          <a:solidFill>
            <a:schemeClr val="accent1">
              <a:alpha val="18000"/>
            </a:schemeClr>
          </a:solidFill>
          <a:ln w="12700">
            <a:solidFill>
              <a:schemeClr val="accent1"/>
            </a:solidFill>
            <a:prstDash val="solid"/>
          </a:ln>
        </p:spPr>
      </p:sp>
      <p:pic>
        <p:nvPicPr>
          <p:cNvPr id="16" name="claims stored per run, each verified and inspectable" descr="preencoded.png">    </p:cNvPr>
          <p:cNvPicPr>
            <a:picLocks noChangeAspect="1"/>
          </p:cNvPicPr>
          <p:nvPr/>
        </p:nvPicPr>
        <p:blipFill>
          <a:blip r:embed="rId3"/>
          <a:stretch>
            <a:fillRect/>
          </a:stretch>
        </p:blipFill>
        <p:spPr>
          <a:xfrm>
            <a:off x="6533388" y="2281428"/>
            <a:ext cx="265176" cy="265176"/>
          </a:xfrm>
          <a:prstGeom prst="rect">
            <a:avLst/>
          </a:prstGeom>
        </p:spPr>
      </p:pic>
      <p:sp>
        <p:nvSpPr>
          <p:cNvPr id="17" name="Text 12"/>
          <p:cNvSpPr txBox="1"/>
          <p:nvPr/>
        </p:nvSpPr>
        <p:spPr>
          <a:xfrm>
            <a:off x="6400800" y="2834640"/>
            <a:ext cx="2057400" cy="868680"/>
          </a:xfrm>
          <a:prstGeom prst="rect">
            <a:avLst/>
          </a:prstGeom>
          <a:noFill/>
          <a:ln/>
        </p:spPr>
        <p:txBody>
          <a:bodyPr wrap="square" lIns="0" tIns="0" rIns="0" bIns="0" rtlCol="0" anchor="ctr"/>
          <a:lstStyle/>
          <a:p>
            <a:pPr indent="0" marL="0">
              <a:buNone/>
            </a:pPr>
            <a:r>
              <a:rPr lang="en-US" sz="4600" b="1" dirty="0">
                <a:solidFill>
                  <a:schemeClr val="accent1"/>
                </a:solidFill>
              </a:rPr>
              <a:t>7</a:t>
            </a:r>
            <a:endParaRPr lang="en-US" sz="4600" dirty="0"/>
          </a:p>
        </p:txBody>
      </p:sp>
      <p:sp>
        <p:nvSpPr>
          <p:cNvPr id="18" name="Text 13"/>
          <p:cNvSpPr txBox="1"/>
          <p:nvPr/>
        </p:nvSpPr>
        <p:spPr>
          <a:xfrm>
            <a:off x="6400800" y="3703320"/>
            <a:ext cx="2057400" cy="868680"/>
          </a:xfrm>
          <a:prstGeom prst="rect">
            <a:avLst/>
          </a:prstGeom>
          <a:noFill/>
          <a:ln/>
        </p:spPr>
        <p:txBody>
          <a:bodyPr wrap="square" lIns="0" tIns="0" rIns="0" bIns="0" rtlCol="0" anchor="t"/>
          <a:lstStyle/>
          <a:p>
            <a:pPr indent="0" marL="0">
              <a:buNone/>
            </a:pPr>
            <a:r>
              <a:rPr lang="en-US" sz="1400" dirty="0">
                <a:solidFill>
                  <a:schemeClr val="bg2"/>
                </a:solidFill>
              </a:rPr>
              <a:t>claims stored per run, each verified and inspectable</a:t>
            </a:r>
            <a:endParaRPr lang="en-US" sz="1400" dirty="0"/>
          </a:p>
        </p:txBody>
      </p:sp>
      <p:sp>
        <p:nvSpPr>
          <p:cNvPr id="19" name="typecheck + build on every push; backend auto-deploy"/>
          <p:cNvSpPr/>
          <p:nvPr/>
        </p:nvSpPr>
        <p:spPr>
          <a:xfrm>
            <a:off x="8915400" y="1874520"/>
            <a:ext cx="2606040" cy="2834640"/>
          </a:xfrm>
          <a:prstGeom prst="roundRect">
            <a:avLst>
              <a:gd name="adj" fmla="val 4211"/>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20" name="typecheck + build on every push; backend auto-deploy badge"/>
          <p:cNvSpPr/>
          <p:nvPr/>
        </p:nvSpPr>
        <p:spPr>
          <a:xfrm>
            <a:off x="9189720" y="2148840"/>
            <a:ext cx="530352" cy="530352"/>
          </a:xfrm>
          <a:prstGeom prst="ellipse">
            <a:avLst/>
          </a:prstGeom>
          <a:solidFill>
            <a:schemeClr val="accent4">
              <a:alpha val="18000"/>
            </a:schemeClr>
          </a:solidFill>
          <a:ln w="12700">
            <a:solidFill>
              <a:schemeClr val="accent4"/>
            </a:solidFill>
            <a:prstDash val="solid"/>
          </a:ln>
        </p:spPr>
      </p:sp>
      <p:pic>
        <p:nvPicPr>
          <p:cNvPr id="21" name="typecheck + build on every push; backend auto-deploy" descr="preencoded.png">    </p:cNvPr>
          <p:cNvPicPr>
            <a:picLocks noChangeAspect="1"/>
          </p:cNvPicPr>
          <p:nvPr/>
        </p:nvPicPr>
        <p:blipFill>
          <a:blip r:embed="rId4"/>
          <a:stretch>
            <a:fillRect/>
          </a:stretch>
        </p:blipFill>
        <p:spPr>
          <a:xfrm>
            <a:off x="9322308" y="2281428"/>
            <a:ext cx="265176" cy="265176"/>
          </a:xfrm>
          <a:prstGeom prst="rect">
            <a:avLst/>
          </a:prstGeom>
        </p:spPr>
      </p:pic>
      <p:sp>
        <p:nvSpPr>
          <p:cNvPr id="22" name="Text 16"/>
          <p:cNvSpPr txBox="1"/>
          <p:nvPr/>
        </p:nvSpPr>
        <p:spPr>
          <a:xfrm>
            <a:off x="9189720" y="2834640"/>
            <a:ext cx="2057400" cy="868680"/>
          </a:xfrm>
          <a:prstGeom prst="rect">
            <a:avLst/>
          </a:prstGeom>
          <a:noFill/>
          <a:ln/>
        </p:spPr>
        <p:txBody>
          <a:bodyPr wrap="square" lIns="0" tIns="0" rIns="0" bIns="0" rtlCol="0" anchor="ctr"/>
          <a:lstStyle/>
          <a:p>
            <a:pPr indent="0" marL="0">
              <a:buNone/>
            </a:pPr>
            <a:r>
              <a:rPr lang="en-US" sz="4600" b="1" dirty="0">
                <a:solidFill>
                  <a:schemeClr val="accent4"/>
                </a:solidFill>
              </a:rPr>
              <a:t>CI</a:t>
            </a:r>
            <a:endParaRPr lang="en-US" sz="4600" dirty="0"/>
          </a:p>
        </p:txBody>
      </p:sp>
      <p:sp>
        <p:nvSpPr>
          <p:cNvPr id="23" name="Text 17"/>
          <p:cNvSpPr txBox="1"/>
          <p:nvPr/>
        </p:nvSpPr>
        <p:spPr>
          <a:xfrm>
            <a:off x="9189720" y="3703320"/>
            <a:ext cx="2057400" cy="868680"/>
          </a:xfrm>
          <a:prstGeom prst="rect">
            <a:avLst/>
          </a:prstGeom>
          <a:noFill/>
          <a:ln/>
        </p:spPr>
        <p:txBody>
          <a:bodyPr wrap="square" lIns="0" tIns="0" rIns="0" bIns="0" rtlCol="0" anchor="t"/>
          <a:lstStyle/>
          <a:p>
            <a:pPr indent="0" marL="0">
              <a:buNone/>
            </a:pPr>
            <a:r>
              <a:rPr lang="en-US" sz="1400" dirty="0">
                <a:solidFill>
                  <a:schemeClr val="bg2"/>
                </a:solidFill>
              </a:rPr>
              <a:t>typecheck + build on every push; backend auto-deploy</a:t>
            </a:r>
            <a:endParaRPr lang="en-US" sz="1400" dirty="0"/>
          </a:p>
        </p:txBody>
      </p:sp>
      <p:sp>
        <p:nvSpPr>
          <p:cNvPr id="24" name="Text 18"/>
          <p:cNvSpPr txBox="1"/>
          <p:nvPr/>
        </p:nvSpPr>
        <p:spPr>
          <a:xfrm>
            <a:off x="548640" y="5074920"/>
            <a:ext cx="11094415" cy="548640"/>
          </a:xfrm>
          <a:prstGeom prst="rect">
            <a:avLst/>
          </a:prstGeom>
          <a:noFill/>
          <a:ln/>
        </p:spPr>
        <p:txBody>
          <a:bodyPr wrap="square" lIns="0" tIns="0" rIns="0" bIns="0" rtlCol="0" anchor="ctr"/>
          <a:lstStyle/>
          <a:p>
            <a:pPr indent="0" marL="0">
              <a:buNone/>
            </a:pPr>
            <a:r>
              <a:rPr lang="en-US" sz="1600" b="1" dirty="0">
                <a:solidFill>
                  <a:schemeClr val="bg1"/>
                </a:solidFill>
              </a:rPr>
              <a:t>Test it yourself:  </a:t>
            </a:r>
            <a:pPr indent="0" marL="0">
              <a:buNone/>
            </a:pPr>
            <a:r>
              <a:rPr lang="en-US" sz="1600" u="sng" dirty="0">
                <a:solidFill>
                  <a:schemeClr val="bg2"/>
                </a:solidFill>
                <a:hlinkClick r:id="rId5" invalidUrl="" action="" tgtFrame="" tooltip="" history="1" highlightClick="0" endSnd="0">
                  <a:extLst>
                    <a:ext uri="{A12FA001-AC4F-418D-AE19-62706E023703}">
                      <ahyp:hlinkClr xmlns:ahyp="http://schemas.microsoft.com/office/drawing/2018/hyperlinkcolor" val="tx"/>
                    </a:ext>
                  </a:extLst>
                </a:hlinkClick>
              </a:rPr>
              <a:t>upload any CSV with a date column and a numeric metric at kausa-gqp.pages.dev</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WHY KAUSA</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Built for every judging criterion</a:t>
            </a:r>
            <a:endParaRPr lang="en-US" sz="3600" dirty="0"/>
          </a:p>
        </p:txBody>
      </p:sp>
      <p:graphicFrame>
        <p:nvGraphicFramePr>
          <p:cNvPr id="12" name="judging table"/>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2103120"/>
                <a:gridCol w="731520"/>
                <a:gridCol w="8259775"/>
              </a:tblGrid>
              <a:tr h="566928">
                <a:tc>
                  <a:txBody>
                    <a:bodyPr/>
                    <a:lstStyle/>
                    <a:p>
                      <a:pPr indent="0" marL="0">
                        <a:buNone/>
                      </a:pPr>
                      <a:r>
                        <a:rPr lang="en-US" sz="1400" b="1" dirty="0">
                          <a:solidFill>
                            <a:schemeClr val="bg1"/>
                          </a:solidFill>
                        </a:rPr>
                        <a:t>Criterion</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Pts</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How Kausa earns it</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accent1"/>
                    </a:solidFill>
                  </a:tcPr>
                </a:tc>
              </a:tr>
              <a:tr h="566928">
                <a:tc>
                  <a:txBody>
                    <a:bodyPr/>
                    <a:lstStyle/>
                    <a:p>
                      <a:pPr indent="0" marL="0">
                        <a:buNone/>
                      </a:pPr>
                      <a:r>
                        <a:rPr lang="en-US" sz="1400" b="1" dirty="0">
                          <a:solidFill>
                            <a:schemeClr val="bg1"/>
                          </a:solidFill>
                        </a:rPr>
                        <a:t>Impact</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2"/>
                          </a:solidFill>
                        </a:rPr>
                        <a:t>30</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c>
                  <a:txBody>
                    <a:bodyPr/>
                    <a:lstStyle/>
                    <a:p>
                      <a:pPr indent="0" marL="0">
                        <a:buNone/>
                      </a:pPr>
                      <a:r>
                        <a:rPr lang="en-US" sz="1300" dirty="0">
                          <a:solidFill>
                            <a:schemeClr val="bg2"/>
                          </a:solidFill>
                        </a:rPr>
                        <a:t>Answers “why did my number move?” on the user's own data — tested causes, recommendations</a:t>
                      </a:r>
                      <a:endParaRPr lang="en-US" sz="13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bg1"/>
                          </a:solidFill>
                        </a:rPr>
                        <a:t>Technical</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2"/>
                          </a:solidFill>
                        </a:rPr>
                        <a:t>20</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Deterministic stats, claim verifier, provider failover, CI, e2e test on the live site</a:t>
                      </a:r>
                      <a:endParaRPr lang="en-US" sz="13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bg1"/>
                          </a:solidFill>
                        </a:rPr>
                        <a:t>Innovation</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2"/>
                          </a:solidFill>
                        </a:rPr>
                        <a:t>15</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c>
                  <a:txBody>
                    <a:bodyPr/>
                    <a:lstStyle/>
                    <a:p>
                      <a:pPr indent="0" marL="0">
                        <a:buNone/>
                      </a:pPr>
                      <a:r>
                        <a:rPr lang="en-US" sz="1300" dirty="0">
                          <a:solidFill>
                            <a:schemeClr val="bg2"/>
                          </a:solidFill>
                        </a:rPr>
                        <a:t>Refutation as an output, every number a claim, durable H-MEM memory</a:t>
                      </a:r>
                      <a:endParaRPr lang="en-US" sz="13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bg1"/>
                          </a:solidFill>
                        </a:rPr>
                        <a:t>Demo</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2"/>
                          </a:solidFill>
                        </a:rPr>
                        <a:t>15</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One path: upload → ask → watch it reason → open the evidence</a:t>
                      </a:r>
                      <a:endParaRPr lang="en-US" sz="13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r>
              <a:tr h="566928">
                <a:tc>
                  <a:txBody>
                    <a:bodyPr/>
                    <a:lstStyle/>
                    <a:p>
                      <a:pPr indent="0" marL="0">
                        <a:buNone/>
                      </a:pPr>
                      <a:r>
                        <a:rPr lang="en-US" sz="1400" b="1" dirty="0">
                          <a:solidFill>
                            <a:schemeClr val="bg1"/>
                          </a:solidFill>
                        </a:rPr>
                        <a:t>Product &amp; UX</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accent2"/>
                          </a:solidFill>
                        </a:rPr>
                        <a:t>10</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c>
                  <a:txBody>
                    <a:bodyPr/>
                    <a:lstStyle/>
                    <a:p>
                      <a:pPr indent="0" marL="0">
                        <a:buNone/>
                      </a:pPr>
                      <a:r>
                        <a:rPr lang="en-US" sz="1300" dirty="0">
                          <a:solidFill>
                            <a:schemeClr val="bg2"/>
                          </a:solidFill>
                        </a:rPr>
                        <a:t>Plain-language ask, editable scope, live progress, clear error states</a:t>
                      </a:r>
                      <a:endParaRPr lang="en-US" sz="13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bg1"/>
                          </a:solidFill>
                        </a:rPr>
                        <a:t>Sponsor tech</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c>
                  <a:txBody>
                    <a:bodyPr/>
                    <a:lstStyle/>
                    <a:p>
                      <a:pPr algn="ctr" indent="0" marL="0">
                        <a:buNone/>
                      </a:pPr>
                      <a:r>
                        <a:rPr lang="en-US" sz="1400" b="1" dirty="0">
                          <a:solidFill>
                            <a:schemeClr val="accent2"/>
                          </a:solidFill>
                        </a:rPr>
                        <a:t>10</a:t>
                      </a:r>
                      <a:endParaRPr lang="en-US" sz="14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c>
                  <a:txBody>
                    <a:bodyPr/>
                    <a:lstStyle/>
                    <a:p>
                      <a:pPr indent="0" marL="0">
                        <a:buNone/>
                      </a:pPr>
                      <a:r>
                        <a:rPr lang="en-US" sz="1300" dirty="0">
                          <a:solidFill>
                            <a:schemeClr val="bg2"/>
                          </a:solidFill>
                        </a:rPr>
                        <a:t>Nemotron narrates live · Meterless H-MEM memory · Zetaris federated SQL</a:t>
                      </a:r>
                      <a:endParaRPr lang="en-US" sz="1300" dirty="0"/>
                    </a:p>
                  </a:txBody>
                  <a:tcPr marL="137160" marR="137160" marT="54864" marB="54864" anchor="ctr">
                    <a:lnL w="6350" cap="flat" cmpd="sng" algn="ctr">
                      <a:solidFill>
                        <a:srgbClr val="12141F"/>
                      </a:solidFill>
                      <a:prstDash val="solid"/>
                      <a:round/>
                      <a:headEnd type="none" w="med" len="med"/>
                      <a:tailEnd type="none" w="med" len="med"/>
                    </a:lnL>
                    <a:lnR w="6350" cap="flat" cmpd="sng" algn="ctr">
                      <a:solidFill>
                        <a:srgbClr val="12141F"/>
                      </a:solidFill>
                      <a:prstDash val="solid"/>
                      <a:round/>
                      <a:headEnd type="none" w="med" len="med"/>
                      <a:tailEnd type="none" w="med" len="med"/>
                    </a:lnR>
                    <a:lnT w="6350" cap="flat" cmpd="sng" algn="ctr">
                      <a:solidFill>
                        <a:srgbClr val="12141F"/>
                      </a:solidFill>
                      <a:prstDash val="solid"/>
                      <a:round/>
                      <a:headEnd type="none" w="med" len="med"/>
                      <a:tailEnd type="none" w="med" len="med"/>
                    </a:lnT>
                    <a:lnB w="6350" cap="flat" cmpd="sng" algn="ctr">
                      <a:solidFill>
                        <a:srgbClr val="12141F"/>
                      </a:solidFill>
                      <a:prstDash val="solid"/>
                      <a:round/>
                      <a:headEnd type="none" w="med" len="med"/>
                      <a:tailEnd type="none" w="med" len="med"/>
                    </a:lnB>
                    <a:solidFill>
                      <a:schemeClr val="tx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7315200" cy="292608"/>
          </a:xfrm>
          <a:prstGeom prst="rect">
            <a:avLst/>
          </a:prstGeom>
          <a:noFill/>
          <a:ln/>
        </p:spPr>
        <p:txBody>
          <a:bodyPr wrap="square" lIns="0" tIns="0" rIns="0" bIns="0" rtlCol="0" anchor="ctr"/>
          <a:lstStyle/>
          <a:p>
            <a:pPr algn="l" indent="0" marL="0">
              <a:buNone/>
            </a:pPr>
            <a:r>
              <a:rPr lang="en-US" sz="1200" b="1" spc="400" kern="0" dirty="0">
                <a:solidFill>
                  <a:schemeClr val="accent1"/>
                </a:solidFill>
              </a:rPr>
              <a:t>WHAT'S NEXT</a:t>
            </a:r>
            <a:endParaRPr lang="en-US" sz="1200" dirty="0"/>
          </a:p>
        </p:txBody>
      </p:sp>
      <p:sp>
        <p:nvSpPr>
          <p:cNvPr id="3" name="Text 0"/>
          <p:cNvSpPr/>
          <p:nvPr>
            <p:ph idx="101" type="title" hasCustomPrompt="1"/>
          </p:nvPr>
        </p:nvSpPr>
        <p:spPr>
          <a:xfrm>
            <a:off x="548640" y="676656"/>
            <a:ext cx="11094415" cy="822960"/>
          </a:xfrm>
          <a:prstGeom prst="rect">
            <a:avLst/>
          </a:prstGeom>
          <a:noFill/>
          <a:ln/>
        </p:spPr>
        <p:txBody>
          <a:bodyPr wrap="square" lIns="0" tIns="0" rIns="0" bIns="0" rtlCol="0" anchor="t"/>
          <a:lstStyle/>
          <a:p>
            <a:pPr algn="l" indent="0" marL="0">
              <a:buNone/>
            </a:pPr>
            <a:r>
              <a:rPr lang="en-US" sz="3600" b="1" dirty="0">
                <a:solidFill>
                  <a:schemeClr val="bg1"/>
                </a:solidFill>
              </a:rPr>
              <a:t>From one file to the whole business</a:t>
            </a:r>
            <a:endParaRPr lang="en-US" sz="3600" dirty="0"/>
          </a:p>
        </p:txBody>
      </p:sp>
      <p:sp>
        <p:nvSpPr>
          <p:cNvPr id="4" name="Now column"/>
          <p:cNvSpPr/>
          <p:nvPr/>
        </p:nvSpPr>
        <p:spPr>
          <a:xfrm>
            <a:off x="548640" y="1783080"/>
            <a:ext cx="3520440" cy="3566160"/>
          </a:xfrm>
          <a:prstGeom prst="roundRect">
            <a:avLst>
              <a:gd name="adj" fmla="val 3117"/>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5" name="Now pill"/>
          <p:cNvSpPr/>
          <p:nvPr/>
        </p:nvSpPr>
        <p:spPr>
          <a:xfrm>
            <a:off x="868680" y="2103120"/>
            <a:ext cx="1051560" cy="411480"/>
          </a:xfrm>
          <a:prstGeom prst="roundRect">
            <a:avLst>
              <a:gd name="adj" fmla="val 48889"/>
            </a:avLst>
          </a:prstGeom>
          <a:solidFill>
            <a:schemeClr val="accent3">
              <a:alpha val="20000"/>
            </a:schemeClr>
          </a:solidFill>
          <a:ln w="12700">
            <a:solidFill>
              <a:schemeClr val="accent3"/>
            </a:solidFill>
            <a:prstDash val="solid"/>
          </a:ln>
        </p:spPr>
      </p:sp>
      <p:sp>
        <p:nvSpPr>
          <p:cNvPr id="6" name="Text 4"/>
          <p:cNvSpPr txBox="1"/>
          <p:nvPr/>
        </p:nvSpPr>
        <p:spPr>
          <a:xfrm>
            <a:off x="868680" y="2103120"/>
            <a:ext cx="1051560" cy="411480"/>
          </a:xfrm>
          <a:prstGeom prst="rect">
            <a:avLst/>
          </a:prstGeom>
          <a:noFill/>
          <a:ln/>
        </p:spPr>
        <p:txBody>
          <a:bodyPr wrap="square" lIns="0" tIns="0" rIns="0" bIns="0" rtlCol="0" anchor="ctr"/>
          <a:lstStyle/>
          <a:p>
            <a:pPr algn="ctr" indent="0" marL="0">
              <a:buNone/>
            </a:pPr>
            <a:r>
              <a:rPr lang="en-US" sz="1500" b="1" dirty="0">
                <a:solidFill>
                  <a:schemeClr val="accent3"/>
                </a:solidFill>
              </a:rPr>
              <a:t>Now</a:t>
            </a:r>
            <a:endParaRPr lang="en-US" sz="1500" dirty="0"/>
          </a:p>
        </p:txBody>
      </p:sp>
      <p:sp>
        <p:nvSpPr>
          <p:cNvPr id="7" name="Text 5"/>
          <p:cNvSpPr txBox="1"/>
          <p:nvPr/>
        </p:nvSpPr>
        <p:spPr>
          <a:xfrm>
            <a:off x="868680" y="2743200"/>
            <a:ext cx="2880360" cy="30175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bg1"/>
                </a:solidFill>
              </a:rPr>
              <a:t>Any CSV / Excel upload</a:t>
            </a:r>
            <a:endParaRPr lang="en-US" sz="1500" dirty="0"/>
          </a:p>
          <a:p>
            <a:pPr marL="203200" indent="-203200">
              <a:spcAft>
                <a:spcPts val="900"/>
              </a:spcAft>
              <a:buSzPct val="100000"/>
              <a:buChar char="•"/>
            </a:pPr>
            <a:r>
              <a:rPr lang="en-US" sz="1500" dirty="0">
                <a:solidFill>
                  <a:schemeClr val="bg1"/>
                </a:solidFill>
              </a:rPr>
              <a:t>Weekday baseline + interval</a:t>
            </a:r>
            <a:endParaRPr lang="en-US" sz="1500" dirty="0"/>
          </a:p>
          <a:p>
            <a:pPr marL="203200" indent="-203200">
              <a:spcAft>
                <a:spcPts val="900"/>
              </a:spcAft>
              <a:buSzPct val="100000"/>
              <a:buChar char="•"/>
            </a:pPr>
            <a:r>
              <a:rPr lang="en-US" sz="1500" dirty="0">
                <a:solidFill>
                  <a:schemeClr val="bg1"/>
                </a:solidFill>
              </a:rPr>
              <a:t>Driver attribution + remainder</a:t>
            </a:r>
            <a:endParaRPr lang="en-US" sz="1500" dirty="0"/>
          </a:p>
          <a:p>
            <a:pPr marL="203200" indent="-203200">
              <a:spcAft>
                <a:spcPts val="900"/>
              </a:spcAft>
              <a:buSzPct val="100000"/>
              <a:buChar char="•"/>
            </a:pPr>
            <a:r>
              <a:rPr lang="en-US" sz="1500" dirty="0">
                <a:solidFill>
                  <a:schemeClr val="bg1"/>
                </a:solidFill>
              </a:rPr>
              <a:t>Verified Nemotron narration</a:t>
            </a:r>
            <a:endParaRPr lang="en-US" sz="1500" dirty="0"/>
          </a:p>
          <a:p>
            <a:pPr marL="203200" indent="-203200">
              <a:spcAft>
                <a:spcPts val="900"/>
              </a:spcAft>
              <a:buSzPct val="100000"/>
              <a:buChar char="•"/>
            </a:pPr>
            <a:r>
              <a:rPr lang="en-US" sz="1500" dirty="0">
                <a:solidFill>
                  <a:schemeClr val="bg1"/>
                </a:solidFill>
              </a:rPr>
              <a:t>Durable memory</a:t>
            </a:r>
            <a:endParaRPr lang="en-US" sz="1500" dirty="0"/>
          </a:p>
        </p:txBody>
      </p:sp>
      <p:sp>
        <p:nvSpPr>
          <p:cNvPr id="8" name="Next column"/>
          <p:cNvSpPr/>
          <p:nvPr/>
        </p:nvSpPr>
        <p:spPr>
          <a:xfrm>
            <a:off x="4407408" y="1783080"/>
            <a:ext cx="3520440" cy="3566160"/>
          </a:xfrm>
          <a:prstGeom prst="roundRect">
            <a:avLst>
              <a:gd name="adj" fmla="val 3117"/>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9" name="Next pill"/>
          <p:cNvSpPr/>
          <p:nvPr/>
        </p:nvSpPr>
        <p:spPr>
          <a:xfrm>
            <a:off x="4727448" y="2103120"/>
            <a:ext cx="1051560" cy="411480"/>
          </a:xfrm>
          <a:prstGeom prst="roundRect">
            <a:avLst>
              <a:gd name="adj" fmla="val 48889"/>
            </a:avLst>
          </a:prstGeom>
          <a:solidFill>
            <a:schemeClr val="accent2">
              <a:alpha val="20000"/>
            </a:schemeClr>
          </a:solidFill>
          <a:ln w="12700">
            <a:solidFill>
              <a:schemeClr val="accent2"/>
            </a:solidFill>
            <a:prstDash val="solid"/>
          </a:ln>
        </p:spPr>
      </p:sp>
      <p:sp>
        <p:nvSpPr>
          <p:cNvPr id="10" name="Text 8"/>
          <p:cNvSpPr txBox="1"/>
          <p:nvPr/>
        </p:nvSpPr>
        <p:spPr>
          <a:xfrm>
            <a:off x="4727448" y="2103120"/>
            <a:ext cx="1051560" cy="411480"/>
          </a:xfrm>
          <a:prstGeom prst="rect">
            <a:avLst/>
          </a:prstGeom>
          <a:noFill/>
          <a:ln/>
        </p:spPr>
        <p:txBody>
          <a:bodyPr wrap="square" lIns="0" tIns="0" rIns="0" bIns="0" rtlCol="0" anchor="ctr"/>
          <a:lstStyle/>
          <a:p>
            <a:pPr algn="ctr" indent="0" marL="0">
              <a:buNone/>
            </a:pPr>
            <a:r>
              <a:rPr lang="en-US" sz="1500" b="1" dirty="0">
                <a:solidFill>
                  <a:schemeClr val="accent2"/>
                </a:solidFill>
              </a:rPr>
              <a:t>Next</a:t>
            </a:r>
            <a:endParaRPr lang="en-US" sz="1500" dirty="0"/>
          </a:p>
        </p:txBody>
      </p:sp>
      <p:sp>
        <p:nvSpPr>
          <p:cNvPr id="11" name="Text 9"/>
          <p:cNvSpPr txBox="1"/>
          <p:nvPr/>
        </p:nvSpPr>
        <p:spPr>
          <a:xfrm>
            <a:off x="4727448" y="2743200"/>
            <a:ext cx="2880360" cy="30175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bg1"/>
                </a:solidFill>
              </a:rPr>
              <a:t>Zetaris across POS, promo and price sources</a:t>
            </a:r>
            <a:endParaRPr lang="en-US" sz="1500" dirty="0"/>
          </a:p>
          <a:p>
            <a:pPr marL="203200" indent="-203200">
              <a:spcAft>
                <a:spcPts val="900"/>
              </a:spcAft>
              <a:buSzPct val="100000"/>
              <a:buChar char="•"/>
            </a:pPr>
            <a:r>
              <a:rPr lang="en-US" sz="1500" dirty="0">
                <a:solidFill>
                  <a:schemeClr val="bg1"/>
                </a:solidFill>
              </a:rPr>
              <a:t>Placebo and control-store tests</a:t>
            </a:r>
            <a:endParaRPr lang="en-US" sz="1500" dirty="0"/>
          </a:p>
          <a:p>
            <a:pPr marL="203200" indent="-203200">
              <a:spcAft>
                <a:spcPts val="900"/>
              </a:spcAft>
              <a:buSzPct val="100000"/>
              <a:buChar char="•"/>
            </a:pPr>
            <a:r>
              <a:rPr lang="en-US" sz="1500" dirty="0">
                <a:solidFill>
                  <a:schemeClr val="bg1"/>
                </a:solidFill>
              </a:rPr>
              <a:t>Shapley attribution for interactions</a:t>
            </a:r>
            <a:endParaRPr lang="en-US" sz="1500" dirty="0"/>
          </a:p>
          <a:p>
            <a:pPr marL="203200" indent="-203200">
              <a:spcAft>
                <a:spcPts val="900"/>
              </a:spcAft>
              <a:buSzPct val="100000"/>
              <a:buChar char="•"/>
            </a:pPr>
            <a:r>
              <a:rPr lang="en-US" sz="1500" dirty="0">
                <a:solidFill>
                  <a:schemeClr val="bg1"/>
                </a:solidFill>
              </a:rPr>
              <a:t>Segment drill-down by default</a:t>
            </a:r>
            <a:endParaRPr lang="en-US" sz="1500" dirty="0"/>
          </a:p>
        </p:txBody>
      </p:sp>
      <p:sp>
        <p:nvSpPr>
          <p:cNvPr id="12" name="Later column"/>
          <p:cNvSpPr/>
          <p:nvPr/>
        </p:nvSpPr>
        <p:spPr>
          <a:xfrm>
            <a:off x="8266176" y="1783080"/>
            <a:ext cx="3520440" cy="3566160"/>
          </a:xfrm>
          <a:prstGeom prst="roundRect">
            <a:avLst>
              <a:gd name="adj" fmla="val 3117"/>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3" name="Later pill"/>
          <p:cNvSpPr/>
          <p:nvPr/>
        </p:nvSpPr>
        <p:spPr>
          <a:xfrm>
            <a:off x="8586216" y="2103120"/>
            <a:ext cx="1051560" cy="411480"/>
          </a:xfrm>
          <a:prstGeom prst="roundRect">
            <a:avLst>
              <a:gd name="adj" fmla="val 48889"/>
            </a:avLst>
          </a:prstGeom>
          <a:solidFill>
            <a:schemeClr val="accent1">
              <a:alpha val="20000"/>
            </a:schemeClr>
          </a:solidFill>
          <a:ln w="12700">
            <a:solidFill>
              <a:schemeClr val="accent1"/>
            </a:solidFill>
            <a:prstDash val="solid"/>
          </a:ln>
        </p:spPr>
      </p:sp>
      <p:sp>
        <p:nvSpPr>
          <p:cNvPr id="14" name="Text 12"/>
          <p:cNvSpPr txBox="1"/>
          <p:nvPr/>
        </p:nvSpPr>
        <p:spPr>
          <a:xfrm>
            <a:off x="8586216" y="2103120"/>
            <a:ext cx="1051560" cy="411480"/>
          </a:xfrm>
          <a:prstGeom prst="rect">
            <a:avLst/>
          </a:prstGeom>
          <a:noFill/>
          <a:ln/>
        </p:spPr>
        <p:txBody>
          <a:bodyPr wrap="square" lIns="0" tIns="0" rIns="0" bIns="0" rtlCol="0" anchor="ctr"/>
          <a:lstStyle/>
          <a:p>
            <a:pPr algn="ctr" indent="0" marL="0">
              <a:buNone/>
            </a:pPr>
            <a:r>
              <a:rPr lang="en-US" sz="1500" b="1" dirty="0">
                <a:solidFill>
                  <a:schemeClr val="accent1"/>
                </a:solidFill>
              </a:rPr>
              <a:t>Later</a:t>
            </a:r>
            <a:endParaRPr lang="en-US" sz="1500" dirty="0"/>
          </a:p>
        </p:txBody>
      </p:sp>
      <p:sp>
        <p:nvSpPr>
          <p:cNvPr id="15" name="Text 13"/>
          <p:cNvSpPr txBox="1"/>
          <p:nvPr/>
        </p:nvSpPr>
        <p:spPr>
          <a:xfrm>
            <a:off x="8586216" y="2743200"/>
            <a:ext cx="2880360" cy="301752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bg1"/>
                </a:solidFill>
              </a:rPr>
              <a:t>Scheduled monitoring and alerts</a:t>
            </a:r>
            <a:endParaRPr lang="en-US" sz="1500" dirty="0"/>
          </a:p>
          <a:p>
            <a:pPr marL="203200" indent="-203200">
              <a:spcAft>
                <a:spcPts val="900"/>
              </a:spcAft>
              <a:buSzPct val="100000"/>
              <a:buChar char="•"/>
            </a:pPr>
            <a:r>
              <a:rPr lang="en-US" sz="1500" dirty="0">
                <a:solidFill>
                  <a:schemeClr val="bg1"/>
                </a:solidFill>
              </a:rPr>
              <a:t>“Why” digests by email or Slack</a:t>
            </a:r>
            <a:endParaRPr lang="en-US" sz="1500" dirty="0"/>
          </a:p>
          <a:p>
            <a:pPr marL="203200" indent="-203200">
              <a:spcAft>
                <a:spcPts val="900"/>
              </a:spcAft>
              <a:buSzPct val="100000"/>
              <a:buChar char="•"/>
            </a:pPr>
            <a:r>
              <a:rPr lang="en-US" sz="1500" dirty="0">
                <a:solidFill>
                  <a:schemeClr val="bg1"/>
                </a:solidFill>
              </a:rPr>
              <a:t>Team workspaces and sharing</a:t>
            </a:r>
            <a:endParaRPr lang="en-US" sz="1500" dirty="0"/>
          </a:p>
          <a:p>
            <a:pPr marL="203200" indent="-203200">
              <a:spcAft>
                <a:spcPts val="900"/>
              </a:spcAft>
              <a:buSzPct val="100000"/>
              <a:buChar char="•"/>
            </a:pPr>
            <a:r>
              <a:rPr lang="en-US" sz="1500" dirty="0">
                <a:solidFill>
                  <a:schemeClr val="bg1"/>
                </a:solidFill>
              </a:rPr>
              <a:t>Recommendation tracking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glow"/>
          <p:cNvSpPr/>
          <p:nvPr/>
        </p:nvSpPr>
        <p:spPr>
          <a:xfrm>
            <a:off x="3169768" y="-2377440"/>
            <a:ext cx="5852160" cy="5852160"/>
          </a:xfrm>
          <a:prstGeom prst="ellipse">
            <a:avLst/>
          </a:prstGeom>
          <a:solidFill>
            <a:schemeClr val="accent1">
              <a:alpha val="7000"/>
            </a:schemeClr>
          </a:solidFill>
          <a:ln w="12700">
            <a:solidFill>
              <a:schemeClr val="accent1">
                <a:alpha val="0"/>
              </a:schemeClr>
            </a:solidFill>
            <a:prstDash val="solid"/>
          </a:ln>
        </p:spPr>
      </p:sp>
      <p:sp>
        <p:nvSpPr>
          <p:cNvPr id="3" name="logo tile"/>
          <p:cNvSpPr/>
          <p:nvPr/>
        </p:nvSpPr>
        <p:spPr>
          <a:xfrm>
            <a:off x="5730088" y="1005840"/>
            <a:ext cx="731520" cy="731520"/>
          </a:xfrm>
          <a:prstGeom prst="roundRect">
            <a:avLst>
              <a:gd name="adj" fmla="val 22500"/>
            </a:avLst>
          </a:prstGeom>
          <a:solidFill>
            <a:schemeClr val="tx2"/>
          </a:solidFill>
          <a:ln w="12700">
            <a:solidFill>
              <a:schemeClr val="accent1"/>
            </a:solidFill>
            <a:prstDash val="solid"/>
          </a:ln>
        </p:spPr>
      </p:sp>
      <p:sp>
        <p:nvSpPr>
          <p:cNvPr id="4" name="Text 2"/>
          <p:cNvSpPr txBox="1"/>
          <p:nvPr/>
        </p:nvSpPr>
        <p:spPr>
          <a:xfrm>
            <a:off x="5730088" y="1005840"/>
            <a:ext cx="731520" cy="731520"/>
          </a:xfrm>
          <a:prstGeom prst="rect">
            <a:avLst/>
          </a:prstGeom>
          <a:noFill/>
          <a:ln/>
        </p:spPr>
        <p:txBody>
          <a:bodyPr wrap="square" lIns="0" tIns="0" rIns="0" bIns="0" rtlCol="0" anchor="ctr"/>
          <a:lstStyle/>
          <a:p>
            <a:pPr algn="ctr" indent="0" marL="0">
              <a:buNone/>
            </a:pPr>
            <a:r>
              <a:rPr lang="en-US" sz="2600" b="1" dirty="0">
                <a:solidFill>
                  <a:schemeClr val="accent1"/>
                </a:solidFill>
              </a:rPr>
              <a:t>M</a:t>
            </a:r>
            <a:endParaRPr lang="en-US" sz="2600" dirty="0"/>
          </a:p>
        </p:txBody>
      </p:sp>
      <p:sp>
        <p:nvSpPr>
          <p:cNvPr id="5" name="Text 3"/>
          <p:cNvSpPr txBox="1"/>
          <p:nvPr/>
        </p:nvSpPr>
        <p:spPr>
          <a:xfrm>
            <a:off x="914400" y="2057400"/>
            <a:ext cx="10362895" cy="1005840"/>
          </a:xfrm>
          <a:prstGeom prst="rect">
            <a:avLst/>
          </a:prstGeom>
          <a:noFill/>
          <a:ln/>
        </p:spPr>
        <p:txBody>
          <a:bodyPr wrap="square" lIns="0" tIns="0" rIns="0" bIns="0" rtlCol="0" anchor="ctr"/>
          <a:lstStyle/>
          <a:p>
            <a:pPr algn="ctr" indent="0" marL="0">
              <a:buNone/>
            </a:pPr>
            <a:r>
              <a:rPr lang="en-US" sz="4800" b="1" dirty="0">
                <a:solidFill>
                  <a:schemeClr val="bg1"/>
                </a:solidFill>
              </a:rPr>
              <a:t>Know why your numbers moved.</a:t>
            </a:r>
            <a:endParaRPr lang="en-US" sz="4800" dirty="0"/>
          </a:p>
        </p:txBody>
      </p:sp>
      <p:sp>
        <p:nvSpPr>
          <p:cNvPr id="6" name="Text 4"/>
          <p:cNvSpPr txBox="1"/>
          <p:nvPr/>
        </p:nvSpPr>
        <p:spPr>
          <a:xfrm>
            <a:off x="1371600" y="3108960"/>
            <a:ext cx="9448495" cy="548640"/>
          </a:xfrm>
          <a:prstGeom prst="rect">
            <a:avLst/>
          </a:prstGeom>
          <a:noFill/>
          <a:ln/>
        </p:spPr>
        <p:txBody>
          <a:bodyPr wrap="square" lIns="0" tIns="0" rIns="0" bIns="0" rtlCol="0" anchor="ctr"/>
          <a:lstStyle/>
          <a:p>
            <a:pPr algn="ctr" indent="0" marL="0">
              <a:buNone/>
            </a:pPr>
            <a:r>
              <a:rPr lang="en-US" sz="1700" dirty="0">
                <a:solidFill>
                  <a:schemeClr val="bg2"/>
                </a:solidFill>
              </a:rPr>
              <a:t>Evidence-weighted explanations, not proof of causation — and Kausa always says which is which.</a:t>
            </a:r>
            <a:endParaRPr lang="en-US" sz="1700" dirty="0"/>
          </a:p>
        </p:txBody>
      </p:sp>
      <p:sp>
        <p:nvSpPr>
          <p:cNvPr id="7" name="Try it live link card"/>
          <p:cNvSpPr/>
          <p:nvPr/>
        </p:nvSpPr>
        <p:spPr>
          <a:xfrm>
            <a:off x="838048" y="4160520"/>
            <a:ext cx="3291840" cy="1325880"/>
          </a:xfrm>
          <a:prstGeom prst="roundRect">
            <a:avLst>
              <a:gd name="adj" fmla="val 8276"/>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8" name="Try it live badge"/>
          <p:cNvSpPr/>
          <p:nvPr/>
        </p:nvSpPr>
        <p:spPr>
          <a:xfrm>
            <a:off x="1112368" y="4526280"/>
            <a:ext cx="594360" cy="594360"/>
          </a:xfrm>
          <a:prstGeom prst="ellipse">
            <a:avLst/>
          </a:prstGeom>
          <a:solidFill>
            <a:schemeClr val="accent3">
              <a:alpha val="18000"/>
            </a:schemeClr>
          </a:solidFill>
          <a:ln w="12700">
            <a:solidFill>
              <a:schemeClr val="accent3"/>
            </a:solidFill>
            <a:prstDash val="solid"/>
          </a:ln>
        </p:spPr>
      </p:sp>
      <p:pic>
        <p:nvPicPr>
          <p:cNvPr id="9" name="Try it live" descr="preencoded.png">    </p:cNvPr>
          <p:cNvPicPr>
            <a:picLocks noChangeAspect="1"/>
          </p:cNvPicPr>
          <p:nvPr/>
        </p:nvPicPr>
        <p:blipFill>
          <a:blip r:embed="rId1"/>
          <a:stretch>
            <a:fillRect/>
          </a:stretch>
        </p:blipFill>
        <p:spPr>
          <a:xfrm>
            <a:off x="1260958" y="4674870"/>
            <a:ext cx="297180" cy="297180"/>
          </a:xfrm>
          <a:prstGeom prst="rect">
            <a:avLst/>
          </a:prstGeom>
        </p:spPr>
      </p:pic>
      <p:sp>
        <p:nvSpPr>
          <p:cNvPr id="10" name="Text 7"/>
          <p:cNvSpPr txBox="1"/>
          <p:nvPr/>
        </p:nvSpPr>
        <p:spPr>
          <a:xfrm>
            <a:off x="1843888" y="4160520"/>
            <a:ext cx="2148840" cy="1325880"/>
          </a:xfrm>
          <a:prstGeom prst="rect">
            <a:avLst/>
          </a:prstGeom>
          <a:noFill/>
          <a:ln/>
        </p:spPr>
        <p:txBody>
          <a:bodyPr wrap="square" lIns="0" tIns="0" rIns="0" bIns="0" rtlCol="0" anchor="ctr"/>
          <a:lstStyle/>
          <a:p>
            <a:pPr indent="0" marL="0">
              <a:buNone/>
            </a:pPr>
            <a:r>
              <a:rPr lang="en-US" sz="1700" b="1" dirty="0">
                <a:solidFill>
                  <a:schemeClr val="bg1"/>
                </a:solidFill>
              </a:rPr>
              <a:t>Try it live</a:t>
            </a:r>
            <a:endParaRPr lang="en-US" sz="1700" dirty="0"/>
          </a:p>
          <a:p>
            <a:pPr indent="0" marL="0">
              <a:buNone/>
            </a:pPr>
            <a:r>
              <a:rPr lang="en-US" sz="1300"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kausa-gqp.pages.dev</a:t>
            </a:r>
            <a:endParaRPr lang="en-US" sz="1700" dirty="0"/>
          </a:p>
        </p:txBody>
      </p:sp>
      <p:sp>
        <p:nvSpPr>
          <p:cNvPr id="11" name="Watch the demo link card"/>
          <p:cNvSpPr/>
          <p:nvPr/>
        </p:nvSpPr>
        <p:spPr>
          <a:xfrm>
            <a:off x="4449928" y="4160520"/>
            <a:ext cx="3291840" cy="1325880"/>
          </a:xfrm>
          <a:prstGeom prst="roundRect">
            <a:avLst>
              <a:gd name="adj" fmla="val 8276"/>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2" name="Watch the demo badge"/>
          <p:cNvSpPr/>
          <p:nvPr/>
        </p:nvSpPr>
        <p:spPr>
          <a:xfrm>
            <a:off x="4724248" y="4526280"/>
            <a:ext cx="594360" cy="594360"/>
          </a:xfrm>
          <a:prstGeom prst="ellipse">
            <a:avLst/>
          </a:prstGeom>
          <a:solidFill>
            <a:schemeClr val="accent5">
              <a:alpha val="18000"/>
            </a:schemeClr>
          </a:solidFill>
          <a:ln w="12700">
            <a:solidFill>
              <a:schemeClr val="accent5"/>
            </a:solidFill>
            <a:prstDash val="solid"/>
          </a:ln>
        </p:spPr>
      </p:sp>
      <p:pic>
        <p:nvPicPr>
          <p:cNvPr id="13" name="Watch the demo" descr="preencoded.png">    </p:cNvPr>
          <p:cNvPicPr>
            <a:picLocks noChangeAspect="1"/>
          </p:cNvPicPr>
          <p:nvPr/>
        </p:nvPicPr>
        <p:blipFill>
          <a:blip r:embed="rId3"/>
          <a:stretch>
            <a:fillRect/>
          </a:stretch>
        </p:blipFill>
        <p:spPr>
          <a:xfrm>
            <a:off x="4872838" y="4674870"/>
            <a:ext cx="297180" cy="297180"/>
          </a:xfrm>
          <a:prstGeom prst="rect">
            <a:avLst/>
          </a:prstGeom>
        </p:spPr>
      </p:pic>
      <p:sp>
        <p:nvSpPr>
          <p:cNvPr id="14" name="Text 10"/>
          <p:cNvSpPr txBox="1"/>
          <p:nvPr/>
        </p:nvSpPr>
        <p:spPr>
          <a:xfrm>
            <a:off x="5455768" y="4160520"/>
            <a:ext cx="2148840" cy="1325880"/>
          </a:xfrm>
          <a:prstGeom prst="rect">
            <a:avLst/>
          </a:prstGeom>
          <a:noFill/>
          <a:ln/>
        </p:spPr>
        <p:txBody>
          <a:bodyPr wrap="square" lIns="0" tIns="0" rIns="0" bIns="0" rtlCol="0" anchor="ctr"/>
          <a:lstStyle/>
          <a:p>
            <a:pPr indent="0" marL="0">
              <a:buNone/>
            </a:pPr>
            <a:r>
              <a:rPr lang="en-US" sz="1700" b="1" dirty="0">
                <a:solidFill>
                  <a:schemeClr val="bg1"/>
                </a:solidFill>
              </a:rPr>
              <a:t>Watch the demo</a:t>
            </a:r>
            <a:endParaRPr lang="en-US" sz="1700" dirty="0"/>
          </a:p>
          <a:p>
            <a:pPr indent="0" marL="0">
              <a:buNone/>
            </a:pPr>
            <a:r>
              <a:rPr lang="en-US" sz="1300" u="sng" dirty="0">
                <a:solidFill>
                  <a:schemeClr val="accent5"/>
                </a:solidFill>
                <a:hlinkClick r:id="rId4" invalidUrl="" action="" tgtFrame="" tooltip="" history="1" highlightClick="0" endSnd="0">
                  <a:extLst>
                    <a:ext uri="{A12FA001-AC4F-418D-AE19-62706E023703}">
                      <ahyp:hlinkClr xmlns:ahyp="http://schemas.microsoft.com/office/drawing/2018/hyperlinkcolor" val="tx"/>
                    </a:ext>
                  </a:extLst>
                </a:hlinkClick>
              </a:rPr>
              <a:t>youtu.be/x4X7j_lqx_k</a:t>
            </a:r>
            <a:endParaRPr lang="en-US" sz="1700" dirty="0"/>
          </a:p>
        </p:txBody>
      </p:sp>
      <p:sp>
        <p:nvSpPr>
          <p:cNvPr id="15" name="Read the code link card"/>
          <p:cNvSpPr/>
          <p:nvPr/>
        </p:nvSpPr>
        <p:spPr>
          <a:xfrm>
            <a:off x="8061808" y="4160520"/>
            <a:ext cx="3291840" cy="1325880"/>
          </a:xfrm>
          <a:prstGeom prst="roundRect">
            <a:avLst>
              <a:gd name="adj" fmla="val 8276"/>
            </a:avLst>
          </a:prstGeom>
          <a:solidFill>
            <a:schemeClr val="tx2"/>
          </a:solidFill>
          <a:ln w="9525">
            <a:solidFill>
              <a:schemeClr val="tx2"/>
            </a:solidFill>
            <a:prstDash val="solid"/>
          </a:ln>
          <a:effectLst>
            <a:outerShdw sx="100000" sy="100000" kx="0" ky="0" algn="bl" rotWithShape="0" blurRad="228600" dist="76200" dir="5400000">
              <a:srgbClr val="000000">
                <a:alpha val="45000"/>
              </a:srgbClr>
            </a:outerShdw>
          </a:effectLst>
        </p:spPr>
      </p:sp>
      <p:sp>
        <p:nvSpPr>
          <p:cNvPr id="16" name="Read the code badge"/>
          <p:cNvSpPr/>
          <p:nvPr/>
        </p:nvSpPr>
        <p:spPr>
          <a:xfrm>
            <a:off x="8336128" y="4526280"/>
            <a:ext cx="594360" cy="594360"/>
          </a:xfrm>
          <a:prstGeom prst="ellipse">
            <a:avLst/>
          </a:prstGeom>
          <a:solidFill>
            <a:schemeClr val="accent1">
              <a:alpha val="18000"/>
            </a:schemeClr>
          </a:solidFill>
          <a:ln w="12700">
            <a:solidFill>
              <a:schemeClr val="accent1"/>
            </a:solidFill>
            <a:prstDash val="solid"/>
          </a:ln>
        </p:spPr>
      </p:sp>
      <p:pic>
        <p:nvPicPr>
          <p:cNvPr id="17" name="Read the code" descr="preencoded.png">    </p:cNvPr>
          <p:cNvPicPr>
            <a:picLocks noChangeAspect="1"/>
          </p:cNvPicPr>
          <p:nvPr/>
        </p:nvPicPr>
        <p:blipFill>
          <a:blip r:embed="rId5"/>
          <a:stretch>
            <a:fillRect/>
          </a:stretch>
        </p:blipFill>
        <p:spPr>
          <a:xfrm>
            <a:off x="8484718" y="4674870"/>
            <a:ext cx="297180" cy="297180"/>
          </a:xfrm>
          <a:prstGeom prst="rect">
            <a:avLst/>
          </a:prstGeom>
        </p:spPr>
      </p:pic>
      <p:sp>
        <p:nvSpPr>
          <p:cNvPr id="18" name="Text 13"/>
          <p:cNvSpPr txBox="1"/>
          <p:nvPr/>
        </p:nvSpPr>
        <p:spPr>
          <a:xfrm>
            <a:off x="9067648" y="4160520"/>
            <a:ext cx="2148840" cy="1325880"/>
          </a:xfrm>
          <a:prstGeom prst="rect">
            <a:avLst/>
          </a:prstGeom>
          <a:noFill/>
          <a:ln/>
        </p:spPr>
        <p:txBody>
          <a:bodyPr wrap="square" lIns="0" tIns="0" rIns="0" bIns="0" rtlCol="0" anchor="ctr"/>
          <a:lstStyle/>
          <a:p>
            <a:pPr indent="0" marL="0">
              <a:buNone/>
            </a:pPr>
            <a:r>
              <a:rPr lang="en-US" sz="1700" b="1" dirty="0">
                <a:solidFill>
                  <a:schemeClr val="bg1"/>
                </a:solidFill>
              </a:rPr>
              <a:t>Read the code</a:t>
            </a:r>
            <a:endParaRPr lang="en-US" sz="1700" dirty="0"/>
          </a:p>
          <a:p>
            <a:pPr indent="0" marL="0">
              <a:buNone/>
            </a:pPr>
            <a:r>
              <a:rPr lang="en-US" sz="130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github.com/opeblow/KAUSA</a:t>
            </a:r>
            <a:endParaRPr lang="en-US" sz="1700" dirty="0"/>
          </a:p>
        </p:txBody>
      </p:sp>
      <p:sp>
        <p:nvSpPr>
          <p:cNvPr id="19" name="Text 14"/>
          <p:cNvSpPr txBox="1"/>
          <p:nvPr/>
        </p:nvSpPr>
        <p:spPr>
          <a:xfrm>
            <a:off x="914400" y="6080760"/>
            <a:ext cx="10362895" cy="320040"/>
          </a:xfrm>
          <a:prstGeom prst="rect">
            <a:avLst/>
          </a:prstGeom>
          <a:noFill/>
          <a:ln/>
        </p:spPr>
        <p:txBody>
          <a:bodyPr wrap="square" lIns="0" tIns="0" rIns="0" bIns="0" rtlCol="0" anchor="ctr"/>
          <a:lstStyle/>
          <a:p>
            <a:pPr algn="ctr" indent="0" marL="0">
              <a:buNone/>
            </a:pPr>
            <a:r>
              <a:rPr lang="en-US" sz="1100" dirty="0">
                <a:solidFill>
                  <a:schemeClr val="bg2"/>
                </a:solidFill>
              </a:rPr>
              <a:t>Open Agent Hackathon 2026  ·  Track 02: The Agent That Can Explain Why</a:t>
            </a:r>
            <a:endParaRPr lang="en-US" sz="1100" dirty="0"/>
          </a:p>
        </p:txBody>
      </p:sp>
    </p:spTree>
  </p:cSld>
  <p:clrMapOvr>
    <a:masterClrMapping/>
  </p:clrMapOvr>
</p:sld>
</file>

<file path=ppt/theme/theme1.xml><?xml version="1.0" encoding="utf-8"?>
<a:theme xmlns:a="http://schemas.openxmlformats.org/drawingml/2006/main" name="Kausa">
  <a:themeElements>
    <a:clrScheme name="Kausa">
      <a:dk1>
        <a:srgbClr val="07080D"/>
      </a:dk1>
      <a:lt1>
        <a:srgbClr val="FFFFFF"/>
      </a:lt1>
      <a:dk2>
        <a:srgbClr val="12141F"/>
      </a:dk2>
      <a:lt2>
        <a:srgbClr val="A4AABD"/>
      </a:lt2>
      <a:accent1>
        <a:srgbClr val="7C6CFF"/>
      </a:accent1>
      <a:accent2>
        <a:srgbClr val="3AD6F0"/>
      </a:accent2>
      <a:accent3>
        <a:srgbClr val="3DDC97"/>
      </a:accent3>
      <a:accent4>
        <a:srgbClr val="F5C451"/>
      </a:accent4>
      <a:accent5>
        <a:srgbClr val="FF6B7A"/>
      </a:accent5>
      <a:accent6>
        <a:srgbClr val="5B8BFF"/>
      </a:accent6>
      <a:hlink>
        <a:srgbClr val="3AD6F0"/>
      </a:hlink>
      <a:folHlink>
        <a:srgbClr val="7C6CFF"/>
      </a:folHlink>
    </a:clrScheme>
    <a:fontScheme name="Kaus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Kausa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Kausa — Know why your numbers moved</dc:title>
  <dc:subject>PptxGenJS Presentation</dc:subject>
  <dc:creator>Kausa</dc:creator>
  <cp:lastModifiedBy>Kausa</cp:lastModifiedBy>
  <cp:revision>1</cp:revision>
  <dcterms:created xsi:type="dcterms:W3CDTF">2026-10-22T11:12:03Z</dcterms:created>
  <dcterms:modified xsi:type="dcterms:W3CDTF">2026-10-22T11:12:03Z</dcterms:modified>
</cp:coreProperties>
</file>